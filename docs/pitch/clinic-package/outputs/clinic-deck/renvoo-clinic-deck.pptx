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2f4dfdc3d4d1c" /><Relationship Type="http://schemas.openxmlformats.org/officeDocument/2006/relationships/extended-properties" Target="/docProps/app.xml" Id="Ra3f9e9adde344c7a" /><Relationship Type="http://schemas.openxmlformats.org/officeDocument/2006/relationships/officeDocument" Target="/ppt/presentation.xml" Id="R04f42db7f569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6d3ebb5db4af8"/>
  </p:sldMasterIdLst>
  <p:notesMasterIdLst>
    <p:notesMasterId xmlns:r="http://schemas.openxmlformats.org/officeDocument/2006/relationships" r:id="R4faea0b1efa543e2"/>
  </p:notesMasterIdLst>
  <p:sldIdLst>
    <p:sldId xmlns:r="http://schemas.openxmlformats.org/officeDocument/2006/relationships" id="256" r:id="R7463ae5ff6d14b3d"/>
    <p:sldId xmlns:r="http://schemas.openxmlformats.org/officeDocument/2006/relationships" id="257" r:id="R28ef7d32c88b4e15"/>
    <p:sldId xmlns:r="http://schemas.openxmlformats.org/officeDocument/2006/relationships" id="258" r:id="R01b1d76790184c1c"/>
    <p:sldId xmlns:r="http://schemas.openxmlformats.org/officeDocument/2006/relationships" id="259" r:id="R7ed8642f43dc4180"/>
    <p:sldId xmlns:r="http://schemas.openxmlformats.org/officeDocument/2006/relationships" id="260" r:id="Rac454e7dd6994b79"/>
    <p:sldId xmlns:r="http://schemas.openxmlformats.org/officeDocument/2006/relationships" id="261" r:id="R3411802911a44420"/>
    <p:sldId xmlns:r="http://schemas.openxmlformats.org/officeDocument/2006/relationships" id="262" r:id="Rc5dacd4d56d14ec3"/>
    <p:sldId xmlns:r="http://schemas.openxmlformats.org/officeDocument/2006/relationships" id="263" r:id="Ra365ed99f74b440c"/>
    <p:sldId xmlns:r="http://schemas.openxmlformats.org/officeDocument/2006/relationships" id="264" r:id="Rb6828042ac59499a"/>
    <p:sldId xmlns:r="http://schemas.openxmlformats.org/officeDocument/2006/relationships" id="265" r:id="Ra596ceffad924f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6d3ebb5db4af8" /><Relationship Type="http://schemas.openxmlformats.org/officeDocument/2006/relationships/theme" Target="/ppt/theme/theme1.xml" Id="R67117fda86c04f39" /><Relationship Type="http://schemas.openxmlformats.org/officeDocument/2006/relationships/notesMaster" Target="/ppt/notesMasters/notesMaster1.xml" Id="R4faea0b1efa543e2" /><Relationship Type="http://schemas.openxmlformats.org/officeDocument/2006/relationships/presProps" Target="/ppt/presProps.xml" Id="R125b1b2ecc424518" /><Relationship Type="http://schemas.openxmlformats.org/officeDocument/2006/relationships/viewProps" Target="/ppt/viewProps.xml" Id="R7d5d27c5975146ae" /><Relationship Type="http://schemas.openxmlformats.org/officeDocument/2006/relationships/tableStyles" Target="/ppt/tableStyles.xml" Id="R24016aa520e14bc9" /><Relationship Type="http://schemas.openxmlformats.org/officeDocument/2006/relationships/slide" Target="/ppt/slides/slide1.xml" Id="R7463ae5ff6d14b3d" /><Relationship Type="http://schemas.openxmlformats.org/officeDocument/2006/relationships/slide" Target="/ppt/slides/slide2.xml" Id="R28ef7d32c88b4e15" /><Relationship Type="http://schemas.openxmlformats.org/officeDocument/2006/relationships/slide" Target="/ppt/slides/slide3.xml" Id="R01b1d76790184c1c" /><Relationship Type="http://schemas.openxmlformats.org/officeDocument/2006/relationships/slide" Target="/ppt/slides/slide4.xml" Id="R7ed8642f43dc4180" /><Relationship Type="http://schemas.openxmlformats.org/officeDocument/2006/relationships/slide" Target="/ppt/slides/slide5.xml" Id="Rac454e7dd6994b79" /><Relationship Type="http://schemas.openxmlformats.org/officeDocument/2006/relationships/slide" Target="/ppt/slides/slide6.xml" Id="R3411802911a44420" /><Relationship Type="http://schemas.openxmlformats.org/officeDocument/2006/relationships/slide" Target="/ppt/slides/slide7.xml" Id="Rc5dacd4d56d14ec3" /><Relationship Type="http://schemas.openxmlformats.org/officeDocument/2006/relationships/slide" Target="/ppt/slides/slide8.xml" Id="Ra365ed99f74b440c" /><Relationship Type="http://schemas.openxmlformats.org/officeDocument/2006/relationships/slide" Target="/ppt/slides/slide9.xml" Id="Rb6828042ac59499a" /><Relationship Type="http://schemas.openxmlformats.org/officeDocument/2006/relationships/slide" Target="/ppt/slides/slide10.xml" Id="Ra596ceffad92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e704fe01a8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3595dbc434449a" /><Relationship Type="http://schemas.openxmlformats.org/officeDocument/2006/relationships/notesMaster" Target="/ppt/notesMasters/notesMaster1.xml" Id="Raa8b42535eee4e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fc500c953b4fcc" /><Relationship Type="http://schemas.openxmlformats.org/officeDocument/2006/relationships/notesMaster" Target="/ppt/notesMasters/notesMaster1.xml" Id="R5f2e1b90e9fd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5bae1d5bc4ede" /><Relationship Type="http://schemas.openxmlformats.org/officeDocument/2006/relationships/notesMaster" Target="/ppt/notesMasters/notesMaster1.xml" Id="R3d336fb9cbc244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b5b82f3ae54de3" /><Relationship Type="http://schemas.openxmlformats.org/officeDocument/2006/relationships/notesMaster" Target="/ppt/notesMasters/notesMaster1.xml" Id="R7b1d7d41c075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38db56f9d4489f" /><Relationship Type="http://schemas.openxmlformats.org/officeDocument/2006/relationships/notesMaster" Target="/ppt/notesMasters/notesMaster1.xml" Id="R73e2c455999f4c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e2dad6a71c4017" /><Relationship Type="http://schemas.openxmlformats.org/officeDocument/2006/relationships/notesMaster" Target="/ppt/notesMasters/notesMaster1.xml" Id="R8f73220705dc4e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623f02b0ee4667" /><Relationship Type="http://schemas.openxmlformats.org/officeDocument/2006/relationships/notesMaster" Target="/ppt/notesMasters/notesMaster1.xml" Id="R26321010e4fa4f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eec7e96e943ea" /><Relationship Type="http://schemas.openxmlformats.org/officeDocument/2006/relationships/notesMaster" Target="/ppt/notesMasters/notesMaster1.xml" Id="R3a601dd9085140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e5bade8a594b8f" /><Relationship Type="http://schemas.openxmlformats.org/officeDocument/2006/relationships/notesMaster" Target="/ppt/notesMasters/notesMaster1.xml" Id="R41ed8d33ebef43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4fadb98b594b37" /><Relationship Type="http://schemas.openxmlformats.org/officeDocument/2006/relationships/notesMaster" Target="/ppt/notesMasters/notesMaster1.xml" Id="R2b76bb898abc40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clinic pain, not AI. The point is that empty chair time is a revenue problem and a workflow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scenario math, not proven pilot data. Keep the buyer focused on the cost of unused chair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late notice is still operational damage when there is no simple way to backfill the slot.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Differentiate Renvoo from a reminder tool. The wedge is risk-aware operations, not simple outbound messaging.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second half of the pain is labor. Clinics do not only lose revenue, they also absorb more admin overhead.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wedge logic. Dental is the clearest current market because the pain is concrete and measurable.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operational. Avoid product hype and avoid technical depth beyond the workflow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trust is built. Emphasize narrow data boundaries and low-friction operational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preliminary clearly. The point is to show seriousness and affordability without pretending the pricing is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credibility and a light ask. The next step is a short validation meeting, not a heavy sales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1e0e3dfd3433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199AF1C-FF4B-4E08-A50A-81FD8CCE58E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74B2149-F389-460E-BB57-2F5D9F72B55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C21E91-99A2-481F-9592-F081C35F0DF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F21EB2-B279-41F8-BCEC-93BBCA35C0C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5468d01f2446dc" /><Relationship Type="http://schemas.openxmlformats.org/officeDocument/2006/relationships/slideLayout" Target="/ppt/slideLayouts/slideLayout2.xml" Id="Rd91b56798e02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8EACFD-2F06-43E0-89CA-7EEF414ACFD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1b56798e02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73beef7d44369" /><Relationship Type="http://schemas.openxmlformats.org/officeDocument/2006/relationships/notesSlide" Target="/ppt/notesSlides/notesSlide1.xml" Id="Rd14c7e3ffd3542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56043bd434ebc" /><Relationship Type="http://schemas.openxmlformats.org/officeDocument/2006/relationships/notesSlide" Target="/ppt/notesSlides/notesSlide2.xml" Id="R05a03c5f0c8f47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9e6150be1040a8" /><Relationship Type="http://schemas.openxmlformats.org/officeDocument/2006/relationships/notesSlide" Target="/ppt/notesSlides/notesSlide3.xml" Id="R8ea0d3ce116b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317aa98604b35" /><Relationship Type="http://schemas.openxmlformats.org/officeDocument/2006/relationships/notesSlide" Target="/ppt/notesSlides/notesSlide4.xml" Id="R123d376c972a43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2c8ef4846e4c68" /><Relationship Type="http://schemas.openxmlformats.org/officeDocument/2006/relationships/notesSlide" Target="/ppt/notesSlides/notesSlide5.xml" Id="Rdda0728fed9548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72a7a551443db" /><Relationship Type="http://schemas.openxmlformats.org/officeDocument/2006/relationships/notesSlide" Target="/ppt/notesSlides/notesSlide6.xml" Id="R157606509989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33b561051b4996" /><Relationship Type="http://schemas.openxmlformats.org/officeDocument/2006/relationships/notesSlide" Target="/ppt/notesSlides/notesSlide7.xml" Id="R4be50477d159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1c941d68740a7" /><Relationship Type="http://schemas.openxmlformats.org/officeDocument/2006/relationships/notesSlide" Target="/ppt/notesSlides/notesSlide8.xml" Id="R07916de29a8a43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0c905c094644d9" /><Relationship Type="http://schemas.openxmlformats.org/officeDocument/2006/relationships/notesSlide" Target="/ppt/notesSlides/notesSlide9.xml" Id="R1852931e56f842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8d36458b3464e" /><Relationship Type="http://schemas.openxmlformats.org/officeDocument/2006/relationships/notesSlide" Target="/ppt/notesSlides/notesSlide10.xml" Id="R0d165ed2c48448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981B5-EA97-469F-B949-F5D6195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7620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4B299-57C6-45D6-A539-2976FA8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91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DD56F-4A00-4CEA-ACD5-13184CDB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524500"/>
            <a:ext cx="2095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F668D-3457-451C-A1FC-EC42C7BF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3A13F-0F74-4608-82C0-9C06C20A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A161C-D1DC-430C-A021-CB38CC6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63219-7D42-4AFC-953A-EE2CA86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759A0-B7A9-44FA-82E6-7CBC4F8B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695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7E982-EFDB-4B99-9918-5ECAF79E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953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For Dutch dental clinics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D869B-97EB-405F-AE63-9C85BEF6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17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343C"/>
                </a:solidFill>
              </a:defRPr>
            </a:pPr>
            <a:r>
              <a:rPr sz="3900" b="1">
                <a:solidFill>
                  <a:srgbClr val="18343C"/>
                </a:solidFill>
              </a:rPr>
              <a:t>Reduce no-shows. Recover lost appointments.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38AB1-8A8F-4E91-9D40-AC5C1164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4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57C"/>
                </a:solidFill>
              </a:defRPr>
            </a:pPr>
            <a:r>
              <a:rPr sz="1650" b="0">
                <a:solidFill>
                  <a:srgbClr val="5D757C"/>
                </a:solidFill>
              </a:rPr>
              <a:t>Renvoo helps dental clinics reduce no-shows, handle late cancellations earlier, and recover lost appointment capacity without adding front-desk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273CD-D6C0-4787-A624-B4A9851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3E2D3-EF27-497D-862B-CEEB1074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No-shows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2A28-BC09-44DC-8655-D450DA7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140589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72B72-014D-4C83-B25F-21A24223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71950"/>
            <a:ext cx="11391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Late cancellations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B1B29-19E2-4B26-A429-6BC2F65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133731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E2FDF-FE62-4653-8338-2A75197E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10706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Capacity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2E34E-899E-48D4-8AD5-2A2EEC16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8845D-B726-4381-9BAB-319693EB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39263-F107-4754-9C18-14F01A8E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 clinic operations problem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A9275-CE8A-467F-8955-37E80189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Renvoo is being framed around wasted appointment capacity, not generic AI. The point is earlier action, clearer visibility, and less manual recovery work for dental clinics.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2BC82-56CF-4116-89B9-6462B80F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200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81DF6-863F-4DE3-8CDB-7F1B77D8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57300"/>
            <a:ext cx="48958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D4B17-7634-4F3E-AFD0-27B5E4E0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57300"/>
            <a:ext cx="489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F50CA-F2B8-40D1-9A02-E5DF624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90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43C"/>
                </a:solidFill>
              </a:defRPr>
            </a:pPr>
            <a:r>
              <a:rPr sz="1125" b="1">
                <a:solidFill>
                  <a:srgbClr val="18343C"/>
                </a:solidFill>
              </a:rPr>
              <a:t>Calendar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46E1C-E1CF-4794-B77D-3551F255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AC359-F81B-4542-9B35-2D57DDB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03A69-D8D9-410D-9CAD-01F5D7FC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0CFA6-A269-4A63-AB1E-72A44A4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91FBC-B2D1-4659-A137-E2696BA6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2D4EB-22AD-4761-9513-0021B07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2F62E7-DD3A-4F29-B753-48663BB3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20A6DE-897E-4D9A-BEEB-97978FBB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A5F11-9FDF-4836-8C0B-39E3FCB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9CA665-258B-45A2-8576-AD21DCF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D9190F-DD4C-4DAB-983B-E00E9D5E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E26CA8-2AE3-4870-B563-F73F0D25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83AA75-8DD8-4C71-ACB6-2F92B4E0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8C4CF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19B3BD-5EEA-456E-AA43-F274358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A662B1-8C42-4694-BF46-9BCAD87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D6175"/>
          </a:solidFill>
          <a:ln xmlns:a="http://schemas.openxmlformats.org/drawingml/2006/main" w="9525">
            <a:solidFill>
              <a:srgbClr val="0D617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F10781-48BF-44EE-A27C-DEA5674E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E28CEA-F335-412A-A1BB-5E017491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03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8C4CF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1A5E15-045E-4C04-A570-1DDD383B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8C4CF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A3DE81-1AA7-4AEE-8232-FF4F15BA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61E367-C4C4-4420-83C7-64D4D22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9E5881-662D-4B5A-B055-86DBFC0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004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D6175"/>
          </a:solidFill>
          <a:ln xmlns:a="http://schemas.openxmlformats.org/drawingml/2006/main" w="9525">
            <a:solidFill>
              <a:srgbClr val="0D617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7625C3-F12A-42AC-A186-D693C5F0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7FCB6C-A68B-435C-9482-B009C35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90650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5FD627-A770-42CB-90E5-2D0DE42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4382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4514D"/>
                </a:solidFill>
              </a:defRPr>
            </a:pPr>
            <a:r>
              <a:rPr sz="750" b="1">
                <a:solidFill>
                  <a:srgbClr val="E4514D"/>
                </a:solidFill>
              </a:rPr>
              <a:t>high-risk slots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9494AF-C48F-4C17-9928-6616360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160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0C198A-51F0-4EE8-A0D1-5158BFF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867790-CC5E-49CB-9A14-3E4F9EED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387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15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Booked does not mean realized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789A3C-7389-42AA-AD83-F0F8E6F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8160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09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scheduled slot only creates value if the patient actually shows up.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0FB95E-A997-419F-AD3F-2774F9AB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67250"/>
            <a:ext cx="160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7246AB-C778-4128-BA34-437164FC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A3F478-04D5-4345-AF75-C84BAEA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8387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7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Late notice still hurts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7C220F-77D4-4392-85B2-D75389A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8160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Even a cancellation can be too late to save the chair time.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AFCA9C-54CC-4F78-ADD9-5FBDC4E5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0"/>
            <a:ext cx="160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802AE-5962-443B-8333-BDE3AA5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CA9D78-BE30-447E-8E02-2D5202FF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387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0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Staff absorb the gap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913144-FF6D-4D22-A486-27B0240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2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Uncertainty creates more confirmation, rescheduling, and recovery work.</a:t>
            </a:r>
          </a:p>
        </p:txBody>
      </p:sp>
    </p:spTree>
    <p:extLst>
      <p:ext uri="{BB962C8B-B14F-4D97-AF65-F5344CB8AC3E}">
        <p14:creationId xmlns:p14="http://schemas.microsoft.com/office/powerpoint/2010/main" val="1082426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7147-B2DE-4910-A664-D41C9E1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D317E-384C-42BF-AA74-81F91EE0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A0D0-4DFC-4FC9-9C72-6DCAC611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2E0B5-DD02-4C86-BC42-D9E5D0D6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BC65D-371B-444E-9EC6-F3A46F5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600C8-2942-4466-8394-1EF68EEF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EAA71-D89D-45BC-9AFB-A11ABD7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561DF-6487-4A17-83EE-A6F4C354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02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6F12A-909E-49A3-9E8B-7E7958B8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73741-CEFB-47B5-9D1B-5948D548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No-shows turn booked time into lost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53577-5729-4FA0-BE04-B30A519A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When chair time goes unused, the lost value is immediate and hard to recover.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9E412-D63F-4E3D-BB53-38166EB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591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29D8F-1B1C-480F-99D5-613BE56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D7AAD-CBCE-41D5-BB16-D9FA06C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Booked time expires quickly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1117B-95FF-46B1-A2BB-E9004E40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If the chair is empty, the value of that appointment often disappears with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25525-F588-4C90-BD50-89D0EC54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591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800DC-2C89-4251-AB06-B6DDD070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51C6A-EF16-41B6-84ED-3CD55A39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Lost value compounds across the week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9D7B7-9865-4239-861F-D6B6BB3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Repeated misses create a visible drag on utilization, daily flow, and monthly revenue.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218D0-1051-40F3-83C0-0F2E4510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591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E109C-1E26-4710-AC27-4A114567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5F439-DA49-48B0-8B87-E4A2A5E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is not automatic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00DA8-86CC-449B-90C7-6AFDE0E2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missed appointment only stops hurting if the slot can be recovered in 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B0645-7ECB-4826-A4FB-22D9EA6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60007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9307A"/>
          </a:solidFill>
          <a:ln xmlns:a="http://schemas.openxmlformats.org/drawingml/2006/main" w="9525">
            <a:solidFill>
              <a:srgbClr val="193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0BB06-3FEB-4D15-AF3C-8E812807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554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≈ EUR 8k/month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99AD0-314C-436D-BA6E-476AD833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5543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1FF"/>
                </a:solidFill>
              </a:defRPr>
            </a:pPr>
            <a:r>
              <a:rPr sz="1125" b="0">
                <a:solidFill>
                  <a:srgbClr val="D9E1FF"/>
                </a:solidFill>
              </a:rPr>
              <a:t>2 missed appointments/day. Potential lost revenue when those appointments are not recovered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6D416A-2815-4111-9DAB-C385197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86300"/>
            <a:ext cx="2876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E8F7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E8DD3-D661-40C9-8C45-67AE57C6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708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6175"/>
                </a:solidFill>
              </a:defRPr>
            </a:pPr>
            <a:r>
              <a:rPr sz="2550" b="1">
                <a:solidFill>
                  <a:srgbClr val="0D6175"/>
                </a:solidFill>
              </a:rPr>
              <a:t>2 missed appointments/day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8A824-D786-4E5C-8253-6E217B3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64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Illustrative clinic scenario used in existing pitch material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3704D-FB60-4A6E-85CE-2BAC450F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2876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7D2AEB-4138-4293-B53F-609A71D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9585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708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307A"/>
                </a:solidFill>
              </a:defRPr>
            </a:pPr>
            <a:r>
              <a:rPr sz="2550" b="1">
                <a:solidFill>
                  <a:srgbClr val="19307A"/>
                </a:solidFill>
              </a:rPr>
              <a:t>Same-day recovery is hard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5B7E5-D20C-4E05-97E3-C507078E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626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64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booked slot only creates value if the patient actually shows 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B388AB-E3C0-4DC4-A331-6C094836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57C"/>
                </a:solidFill>
              </a:defRPr>
            </a:pPr>
            <a:r>
              <a:rPr sz="750" b="0">
                <a:solidFill>
                  <a:srgbClr val="5D757C"/>
                </a:solidFill>
              </a:rPr>
              <a:t>Illustrative scenario math from existing Renvoo pitch material, not live pilot proof.</a:t>
            </a:r>
          </a:p>
        </p:txBody>
      </p:sp>
    </p:spTree>
    <p:extLst>
      <p:ext uri="{BB962C8B-B14F-4D97-AF65-F5344CB8AC3E}">
        <p14:creationId xmlns:p14="http://schemas.microsoft.com/office/powerpoint/2010/main" val="1491795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C9DB2-0769-48D6-AD66-9AC52C6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711EF-0253-4106-B5B1-7331F7B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EDAB-C25E-4B1C-B4B4-F1C84FB5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E69E7-9525-4F76-9444-FB23AA5D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5932F-D8B0-4112-9614-176E622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84F27-8FDB-4BE3-A71A-EFC3E88B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AD13B-0120-415F-B921-C092532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58B49-0ACA-46F0-98A6-E6D5B9F4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03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2E69-65D7-4025-AE4D-19F1BB6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BA8B3-CA32-4691-BA72-CC25C15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Late cancellations still leave chair time empty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DE97B-D37A-4785-ABDF-9E5FC0C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Even when patients tell you, late notice often arrives too late to save the slot.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A8252-E91F-46FD-B52C-AC5C14CB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448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6AF93-7071-4553-9A03-44215C01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6BB99-FB28-475C-805D-8B4799A4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Too little notice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B0BCE-80EF-46B8-8B34-4CAD4A1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3028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patient can cancel politely and the clinic can still lose the value of the appointment.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840A7-E8D3-4CA1-AC83-E40CD5E5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448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B92A6-1727-452B-B938-BA05942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B1234-6EC0-4D67-AADA-4DE17D42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Gaps break the 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6EC34-24AE-4C43-9691-7767AAC5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28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30 to 60 minute opening can be too small or too late to refill manually.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12221-4B1E-4E65-B533-0963443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34671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B01A0-3215-429C-AD1B-9D65EC32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CFD50-FFEE-4778-8828-36FF47EE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becomes a scramble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2E434-B5C2-47D5-98B8-68E7539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3048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Staff end up calling waiting lists or shifting plans at the last minute.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58A71-8219-47B4-B5D5-75B4B88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475E7-37EB-42FF-8781-363680A8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1B2B9-91C2-4557-BD98-0692AD59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6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 late cancellation can still be operationally expensive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3D99F-1561-4330-8003-043C697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patient may have communicated, but the clinic still carries the cost if the slot cannot be recovered in time.</a:t>
            </a:r>
          </a:p>
        </p:txBody>
      </p:sp>
    </p:spTree>
    <p:extLst>
      <p:ext uri="{BB962C8B-B14F-4D97-AF65-F5344CB8AC3E}">
        <p14:creationId xmlns:p14="http://schemas.microsoft.com/office/powerpoint/2010/main" val="787609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DDC7F-ED80-4496-91A5-71390D50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EC8E-448F-4BC6-A41B-4714452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F615-4317-42DE-B092-96A6FDA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0095-7985-4950-98A7-EF66E3C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B243D-756E-4475-9541-65AA16FA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347F8-0C1B-4045-A622-88DD1C60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04854-D2E8-499A-A8FA-5BD4546B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CA3A-68FC-444B-A67B-FC0260BF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96DDF-D38A-4AA6-B545-7EE746E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4558B-CA63-4D8C-B897-A1C2AA24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Reminders exist. Prevention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89151-1899-4211-A11D-6E0E70AF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Sending the same reminder to everyone still leaves clinics reacting too 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969EE-EC3C-42CB-A589-ECF46E1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720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F3D49-15DC-4AC6-98E4-7481A8B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What clinics already have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80861-AF9E-446B-8E5B-8172BD0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0C1CC-0CA2-4B35-B7A8-9C6CEA0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Booking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9722D-7DCD-4BE1-B7B6-07A29CA2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A23AE-53F2-4371-8AAC-EFE969ED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Reminder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74314-91E4-475F-904D-6060AB27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AF5AD-5CAE-4D7E-AC37-13E1EEE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Reminder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D6D0B-2514-4137-BAA4-E9D6150B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5148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DEA32-9D04-4BFE-8656-B900189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What is still 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C053D-6D8E-4F21-8D2B-E09889CC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57C"/>
                </a:solidFill>
              </a:defRPr>
            </a:pPr>
            <a:r>
              <a:rPr sz="1200" b="0">
                <a:solidFill>
                  <a:srgbClr val="5D757C"/>
                </a:solidFill>
              </a:rPr>
              <a:t>A way to tell which appointments need stronger action before the slot is already in danger.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F50BF-1964-4437-ADF5-832A954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560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327CB-9C63-400C-A8FE-2E224BBC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82149-61BF-43B1-A734-5C7E25D2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18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Same reminder, every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970B2-59BD-4285-BF22-92591C3B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Generic reminder flows treat low-risk and high-risk appointments the same.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B4F99-EE84-4F5F-9279-58E82C8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560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FA052-9904-45AB-ADB6-073D6B36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E2120-27A5-41C3-BA9F-1F9D96D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18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No response is still 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2F41BC-7B5C-4688-B931-99690E5E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sent message is not the same as a confirmed patient.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E50D2-DEB1-4541-B989-5D40929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00600"/>
            <a:ext cx="560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C4B27-C92C-4794-9204-D979CF1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00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A0E35-4EF1-411F-A654-1CB644FA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18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Action happens too 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A803D4-E93C-4038-B922-18A2764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By the time staff intervene manually, the slot is often already at risk.</a:t>
            </a:r>
          </a:p>
        </p:txBody>
      </p:sp>
    </p:spTree>
    <p:extLst>
      <p:ext uri="{BB962C8B-B14F-4D97-AF65-F5344CB8AC3E}">
        <p14:creationId xmlns:p14="http://schemas.microsoft.com/office/powerpoint/2010/main" val="827399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575E9-1BEA-4DB9-B1C4-056F1B47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E1B53-6243-4181-B555-D1EBD87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833DA-7CD8-4905-86FA-35145F0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45364-311A-4C83-8235-0661712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226C1-1FB9-4150-9455-19AF6988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7E056-82F5-491D-B201-52418EDB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76F47-8168-4D21-BE93-AA100A11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788BF-7794-44E7-B461-7AE0245E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05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DA037-A858-486F-82B5-C4E2F41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7777B-B204-47BA-B633-739AB4B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Admin work grows around uncertainty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56C05-592F-4547-B5E1-CA55B854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Confirmations, rescheduling, and recovery work all increase when attendance is unclear.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36ECE-79AD-40A0-BEC2-679BD29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067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307A"/>
          </a:solidFill>
          <a:ln xmlns:a="http://schemas.openxmlformats.org/drawingml/2006/main" w="9525">
            <a:solidFill>
              <a:srgbClr val="193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656B1-5942-48A0-A56D-A7EA95F2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60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49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More manual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07AEA-A24C-4BDE-A36A-D83B0B1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1FF"/>
                </a:solidFill>
              </a:defRPr>
            </a:pPr>
            <a:r>
              <a:rPr sz="1125" b="0">
                <a:solidFill>
                  <a:srgbClr val="D9E1FF"/>
                </a:solidFill>
              </a:rPr>
              <a:t>As soon as attendance becomes uncertain, someone has to manage the exception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922C5-D063-4E2C-83C6-CF099D66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067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E8F7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F1A68-2FC6-4D5A-BB60-9D8698B9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60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6175"/>
                </a:solidFill>
              </a:defRPr>
            </a:pPr>
            <a:r>
              <a:rPr sz="2550" b="1">
                <a:solidFill>
                  <a:srgbClr val="0D6175"/>
                </a:solidFill>
              </a:rPr>
              <a:t>Less usable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F1712-37BB-4E84-BCF1-9AD14A3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1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team spends more of the day coordinating around uncertainty instead of running the clinic smoothly.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E8DCE-E8E4-43B9-8F22-79B03E4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2362200" cy="3619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56216-3444-40F6-A302-FA97654A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D0B23-9646-4997-A5FF-8BD713B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Confirmations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B2772-CF25-4381-BA5E-2FF1562B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33700"/>
            <a:ext cx="1943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Someone still has to see who replied, who did not, and what to do next.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66F7D-F059-4EDB-9467-BBD0AFE2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2362200" cy="3619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E212B-1359-4A87-89D2-467FB98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83F9C-1B49-40B1-A095-CDBA66F6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Rescheduling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8A994-E344-41EA-82E4-B1507DD9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1943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Every late change creates new messages, new slots, and new front-desk work.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CF4EB1-BD09-4770-BC21-53E4320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2190750" cy="3619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C90EE-0D0E-48EE-8C88-A2CEE347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7F9B6-D63B-43F2-B270-0CC0561F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908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F46FD-4A1F-4B94-B62A-9CC7403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7716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Waiting lists and short-notice backfill help, but they are exhausting when managed manually.</a:t>
            </a:r>
          </a:p>
        </p:txBody>
      </p:sp>
    </p:spTree>
    <p:extLst>
      <p:ext uri="{BB962C8B-B14F-4D97-AF65-F5344CB8AC3E}">
        <p14:creationId xmlns:p14="http://schemas.microsoft.com/office/powerpoint/2010/main" val="2011580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B6168-2FAB-4981-97E4-46221F97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48C8C-C1F8-4F80-922A-70CBFF5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A7D35-576F-465D-B9E0-EF35D18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A3130-254C-4F5A-9C2F-769D8C12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10AC9-DE37-4229-8513-6F68601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48E4-F84F-4299-BA96-E91E082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B5A8B-4684-4FCF-90B2-65993FEF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2151D-DC66-4F22-92AC-8B2D6EA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06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6784F-88F4-4FA4-9EC4-00C5D1C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6699A-AB7F-4936-AD6B-2376AF06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90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Dental clinics feel this pain more sharply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71AEF-5EF8-4E76-8DC7-84EAA7FD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High-value chair time and dense daily schedules make empty slots expensive fast.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449CE-A851-4A0E-9D96-77DD51F1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0005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FD1AC-6A30-429B-AEA7-18406CE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AFCE6-F273-4FF1-811C-27984DA0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Why dental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E6AE9-CC7F-4B55-BF6C-BD40FBE2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33909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Dental is the clearest current wedge because the pain is practical, the buyers are operational, and the revenue cost of unused chair time is easy to explain.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B4128-D2BB-49FB-AD4A-3E5BD45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96E7E-ECAC-4363-BD6C-CE17988C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86820-64BC-4DAB-A38A-2EE763DD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High-value chair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03096-F157-48AD-AA1A-AE0A664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Dental appointments often have direct revenue impact when they go unused.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38E4F-D4F2-4402-B211-A463201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09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CCE0F-FBFA-4F87-9747-E2256E7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560F9-43AB-485A-A701-A3B5965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624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Dense schedules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CF229-102D-4D17-BD36-7E1648BC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Clinics run tightly packed days where one gap disrupts utilization quickly.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895EA-CEB1-4253-868B-C17D9915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AEC34-1DBB-419E-BF57-AB35EDFE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DB732-D84D-4B59-8CE3-75846D4F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911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Repeat appointments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A6378-9685-4E42-B18F-59BDFA6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340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Ongoing treatment creates recurring opportunities for both risk and recovery.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58B9E3-4406-4F06-AF62-2486D1B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31813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3B757-7F52-484A-8DAF-E67C82FC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4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307A"/>
                </a:solidFill>
              </a:defRPr>
            </a:pPr>
            <a:r>
              <a:rPr sz="2550" b="1">
                <a:solidFill>
                  <a:srgbClr val="19307A"/>
                </a:solidFill>
              </a:rPr>
              <a:t>Dental-first wedge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494F2-D07C-49D6-82AC-350844A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current market entry is Dutch private dental clinics, not broad hospital software.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A4B62-56E5-49CB-B2D5-54AF937F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1813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58B3B8-07A0-42FA-B838-38FA4D50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54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6175"/>
                </a:solidFill>
              </a:defRPr>
            </a:pPr>
            <a:r>
              <a:rPr sz="2550" b="1">
                <a:solidFill>
                  <a:srgbClr val="0D6175"/>
                </a:solidFill>
              </a:rPr>
              <a:t>Operational buyer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2A7D1-D313-4738-9347-C79FE848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387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strongest buyer is the owner or practice manager who feels empty-slot cost and admin burden directly.</a:t>
            </a:r>
          </a:p>
        </p:txBody>
      </p:sp>
    </p:spTree>
    <p:extLst>
      <p:ext uri="{BB962C8B-B14F-4D97-AF65-F5344CB8AC3E}">
        <p14:creationId xmlns:p14="http://schemas.microsoft.com/office/powerpoint/2010/main" val="1312996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84F58-9B8F-41AF-99EF-32FCC9A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F2C3-A800-45D5-B853-EF6B17D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FB198-AF21-4619-A107-E25C39C4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76667-90D3-416D-9A10-2C935A57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7FB4C-1B65-4D64-8AE1-16778746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AAE31-1075-4392-BFC0-B189690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2ED9E-DFB8-4A6B-BC5A-107D4322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2A6FE-3D02-4EB9-BEA5-C91E08A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07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FBDB7-A523-42B6-BA03-14FFEA9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6D203-3C7B-4BD3-9CB6-A2476B1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What Renvoo changes operationally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27611-D6D3-45D0-9989-55EF518A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Renvoo is designed as a clinic operations layer, not just a reminder tool.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CA7B0-7059-4874-A41C-2A586A2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69E41-1B20-421E-B057-3D2FE327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C0407-2AA6-42BB-9FC8-543B0CC6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62E32-F3E4-49AC-85C1-4E76D02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Identify higher-risk appointments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F20E1-2C23-4B9E-8FCF-6379FCC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0E267-90DE-44A2-9149-8744E84D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F7310-7CD1-4768-BA88-416DCFF3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00D49-E5A7-43A6-BFD3-D0ED85A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99921-E054-4D2A-85B4-7A85BE41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Trigger stronger confirmation or rescheduling earlier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68155-F08F-4B74-B39F-4233ACED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08E41-F729-4A2C-BDC7-D7B4E402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D9C8F-8836-4A54-88F9-26674C2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7CA79-2DD4-4733-B794-724FD75B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CA154-2E16-493A-9DAA-34A9A24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Track patient response centrally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02581-E28A-4BE0-B4BC-2F47048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77761-E163-4111-891C-112719A1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170CD-E6CA-49A2-95A9-F85B70CA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86D98-39F2-4F45-9870-51AF39AE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48DD1-EF5A-447E-90D1-D3AF0C3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Recover otherwise lost capacity when possible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EB462-4866-4C89-8110-94573996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48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35A690-504C-460B-A20A-325969AC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98F859-AF02-4A98-9C26-6B6AAED8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Earlier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08286-87CD-4886-85B5-F7684EF3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3028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goal is to intervene while the clinic still has time to reshape the appointment outcome.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A5A0D-8D22-4408-9AA3-678E4E7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3448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DCEC24-8F98-4258-AD2D-0C875CDE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856AF-B617-4441-A4B6-D3501D3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Clearer visibility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803D9B-C562-4CC8-B7AB-3F4B1BBD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3028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Staff should be able to see who is confirmed, who is uncertain, and what has already happened.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0CD7CA-9F7C-477D-A6F7-0FEEDBB4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4671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2F6C86-1133-46C6-8D96-6979B977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B11DC-E0F7-4500-A1CF-EA227CDB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Less wasted capacity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7C77D4-39E5-4EAB-86DD-4391E1A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Prevented no-shows and recovered slots both improve the economics of the clinic day.</a:t>
            </a:r>
          </a:p>
        </p:txBody>
      </p:sp>
    </p:spTree>
    <p:extLst>
      <p:ext uri="{BB962C8B-B14F-4D97-AF65-F5344CB8AC3E}">
        <p14:creationId xmlns:p14="http://schemas.microsoft.com/office/powerpoint/2010/main" val="1803499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012E3-3EA4-4985-9736-99543369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9A750-29B4-45BE-BEF2-B6726609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B809B-9112-44F1-93F3-B29D558F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C65E2-0BB4-478D-90C7-95468BD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86CE9-49FF-4385-8AF6-5A5E642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5A5FF-C889-4ECE-B5BB-9B46E12C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68E65-AEE8-4DDB-A725-2BA551F7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00997-5AE9-4EF3-9689-02507C0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08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DD5BF-0E7D-4E95-834E-BB9AA6A5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8E1CF-17CC-415D-9405-812A08B6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Low-friction for clinics by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81BB4-A2DA-4D36-9045-6AB576F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The workflow is designed around operational data, clinic control, and lightweight onboarding.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A1603-B5F8-4406-A586-B97A66C6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48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90E95-6987-44FC-92A0-748A10D7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AB952-A29E-4611-AA28-7156161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Administrative data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197FE-C153-4278-9F6C-E066208E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Renvoo is designed around scheduling and communication data, not diagnoses or clinical notes.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8A090-1651-4578-B77E-41EE8DB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8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92E90-AFEB-4D48-978F-8DDD27A1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12214-EE5A-45A7-A714-6F7DB015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Lightweight onboarding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5850F-A335-4EDA-A164-001ED4EA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CSV-first and read-only onboarding paths reduce integration friction while pilots are being validated.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7E619-E12F-4270-9D12-7BD23294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48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1FC1A-D2E8-4169-B7FE-47DF3A09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E91CE-848D-4233-8ED1-2A7A71F3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Clinic control and auditability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C34E4-5E47-4E83-9F45-B16081C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3028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588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clinic stays in control of patient workflows and operational decisions.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664C4-8A64-4E7A-BA0B-F1876AC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71056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DD397-9BE4-4E47-B295-5F83F1A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How the operating layer fits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B4722-3E3A-4883-90C0-6FEDECE0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D1A6B-13B2-423B-8710-C1B9555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147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9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43C"/>
                </a:solidFill>
              </a:defRPr>
            </a:pPr>
            <a:r>
              <a:rPr sz="1275" b="1">
                <a:solidFill>
                  <a:srgbClr val="18343C"/>
                </a:solidFill>
              </a:rPr>
              <a:t>Scheduling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1B703-0746-4F10-9967-42F7C15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1371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57C"/>
                </a:solidFill>
              </a:defRPr>
            </a:pPr>
            <a:r>
              <a:rPr sz="1050" b="0">
                <a:solidFill>
                  <a:srgbClr val="5D757C"/>
                </a:solidFill>
              </a:rPr>
              <a:t>Appointments, timing, status, and attendance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0A058A-1B25-43C6-A225-2162D96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483F9-3781-4BFA-9693-B9DFB04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43C"/>
                </a:solidFill>
              </a:defRPr>
            </a:pPr>
            <a:r>
              <a:rPr sz="1275" b="1">
                <a:solidFill>
                  <a:srgbClr val="18343C"/>
                </a:solidFill>
              </a:rPr>
              <a:t>Renvoo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316444-73A2-4EE7-A14D-96B07BC5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57C"/>
                </a:solidFill>
              </a:defRPr>
            </a:pPr>
            <a:r>
              <a:rPr sz="1050" b="0">
                <a:solidFill>
                  <a:srgbClr val="5D757C"/>
                </a:solidFill>
              </a:rPr>
              <a:t>Risk awareness, confirmation logic, response tracking, and capacity recovery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2C935-39E9-4121-A2E0-AD7D992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44288C-BA44-4CE9-A5DD-C96F6A98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147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5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43C"/>
                </a:solidFill>
              </a:defRPr>
            </a:pPr>
            <a:r>
              <a:rPr sz="1275" b="1">
                <a:solidFill>
                  <a:srgbClr val="18343C"/>
                </a:solidFill>
              </a:rPr>
              <a:t>Patient communication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7879C-0F77-41A8-A720-8DC2551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57C"/>
                </a:solidFill>
              </a:defRPr>
            </a:pPr>
            <a:r>
              <a:rPr sz="1050" b="0">
                <a:solidFill>
                  <a:srgbClr val="5D757C"/>
                </a:solidFill>
              </a:rPr>
              <a:t>Confirmation, cancellation, and rescheduling 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1B1E5B-5858-4501-8386-7B82E494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B3E58-A0E1-47A3-A1A8-8322E64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5273E0-ABD6-4931-B448-CD091EF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4614F0-298A-4147-8B8B-3B6572B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492314-70FF-4C3A-BF69-3B243D20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534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B96BA4-BD9B-4705-8B8E-820AD88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592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14D"/>
                </a:solidFill>
              </a:defRPr>
            </a:pPr>
            <a:r>
              <a:rPr sz="1200" b="1">
                <a:solidFill>
                  <a:srgbClr val="E4514D"/>
                </a:solidFill>
              </a:rPr>
              <a:t>No diagnoses, no clinical notes, no treatment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412901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AC84B-1B88-4491-BCB3-C95D620D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BA962-AEB5-4A8C-B2D6-D43CC65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F725A-674A-434B-BABD-81F47F8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B57F-1FB8-4346-BF22-FA46A757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0592B-A5A2-414C-83DA-49A044D7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DA64D-53AF-4E8B-A924-C387CD7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2A677-7C85-4B90-BA90-294B00F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40EEC-5A51-4E99-8AB7-E721F913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09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BFDE6-3425-46F5-BFC8-1E1427F5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B87BB-9E29-4BC1-964B-47B60BCC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Preliminary pilot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CB13C-0F47-47E8-B53A-BFD5438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Enough to frame budget fit, not a final commercial commitment.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2EB96-BC03-4FF1-89D8-2E26BFA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9307A"/>
          </a:solidFill>
          <a:ln xmlns:a="http://schemas.openxmlformats.org/drawingml/2006/main" w="9525">
            <a:solidFill>
              <a:srgbClr val="193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D699B-F3B3-4FFB-B5ED-4EEF2241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1FF"/>
                </a:solidFill>
              </a:defRPr>
            </a:pPr>
            <a:r>
              <a:rPr sz="975" b="1">
                <a:solidFill>
                  <a:srgbClr val="D9E1FF"/>
                </a:solidFill>
              </a:rPr>
              <a:t>Preliminary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80214-47E7-4A3A-9AAC-33A06B1A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036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Preliminary pilot pricing starts at EUR 2.49 per appointment, plus a fixed fee depending on the clinic. Final pricing is still being shaped with pilot partners.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B828A-9046-49AA-A6AD-EBB8503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448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A46A5-D64D-41A9-896C-F577C0C5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A4B66-5EC1-42EA-A55C-2740B6A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Per appointment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8819D-72D2-45A5-90DF-DE112D61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usage-based part frames value around the appointment volume the clinic actually runs.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4F295-79C1-473F-8A73-2C44896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3448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3CB3E-699C-48FD-B475-D81CAB06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2018B-1984-4D7B-BC7C-802C3A8B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Fixed clinic fee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9B295-54E1-4396-993A-E1B864E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6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clinic fee depends on the clinic because rollout complexity and support needs can differ.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C9256-9BBB-434E-85F4-9B766BE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467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C227-E48D-4F56-B778-507BA14B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E6AB3-99A6-4764-9ED1-83364882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292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Still being shaped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FCBCC-8C69-4239-BA86-E31C9DAD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721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Pricing is shown now to signal seriousness, but it is not being presented as final.</a:t>
            </a:r>
          </a:p>
        </p:txBody>
      </p:sp>
    </p:spTree>
    <p:extLst>
      <p:ext uri="{BB962C8B-B14F-4D97-AF65-F5344CB8AC3E}">
        <p14:creationId xmlns:p14="http://schemas.microsoft.com/office/powerpoint/2010/main" val="997318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D8A6D6-5A49-46F7-8AC4-D6254B37C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267FD-E8C5-4980-86F1-AC7760A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C03A-5CD9-40DD-AEA7-F67FF7F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0F66E-D79C-4B53-A5AB-89D90C00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CA938-A51D-4C17-AEFF-A5EC235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14CBD-3331-4E6E-83CF-F62BF7B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00E14-7008-43FE-8298-19514A69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9F515-2292-4F59-B514-80B602CA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B915B-7AB7-4446-B6D6-E96533CE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10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D17DF-8317-4194-892A-3EDA80A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CD3DC-3691-4084-894E-1B68DD7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Built to validate with clinics, not just describe the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C6F73-21F4-4CAC-99DE-8C15A1F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5148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D0CE2-8796-479D-BB1F-6D00843B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13335">
            <a:solidFill>
              <a:srgbClr val="18C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21381-65FC-49AE-B5B7-EE202E82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6175"/>
                </a:solidFill>
              </a:defRPr>
            </a:pPr>
            <a:r>
              <a:rPr sz="2100" b="1">
                <a:solidFill>
                  <a:srgbClr val="0D6175"/>
                </a:solidFill>
              </a:rPr>
              <a:t>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135D9-0A41-4441-847E-8DF2C91E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3C"/>
                </a:solidFill>
              </a:defRPr>
            </a:pPr>
            <a:r>
              <a:rPr sz="1500" b="1">
                <a:solidFill>
                  <a:srgbClr val="18343C"/>
                </a:solidFill>
              </a:rPr>
              <a:t>Founder credibility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B98A8-A1A6-443D-90A3-6FF1AA34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57500"/>
            <a:ext cx="30289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Renvoo is being built by Mohamed Ibrahim, former Electrical Subteam Lead for Team Polar at TU/e and part of the NVIDIA 6G Developer Program.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B7989-5678-4E07-A0C1-3CA2E4EF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52650"/>
            <a:ext cx="61722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CCAAF-2487-4DDE-A88D-59F1AEF7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95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BD87E-CC56-4F9E-89D6-DF1D0C8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556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Pilot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B8321-7F9D-4247-B28F-2F18617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5562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We are looking for a short validation meeting with a dental clinic owner or practice manager to review your current no-show and rescheduling workflow.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2438B-BB8A-46AE-9DB4-BB72A9B5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448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42F96-8AEC-4DC1-98BF-C17647F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80398-B47C-40D0-A55A-CD40C370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Current reminder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1A9D6-A879-4F0D-AA0C-25995AF9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3028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How do confirmations work today, and where does uncertainty still remain?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4956A-4470-4190-9EAE-233A818C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3448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98561-4458-4864-9EA7-A37545DD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72042-B931-461E-A104-FA48A19E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Late-cancellation handling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FA89C-ED19-48D9-A2C9-806B3A21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34000"/>
            <a:ext cx="3028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What happens when a patient cannot attend and the clinic needs to protect utilization?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6EF68-FF69-4B65-A647-13A4B0E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9650"/>
            <a:ext cx="3467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58DEE-8D75-4C33-B8D1-EF199958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96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709F2-EC93-4112-9E7F-2777141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911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opportunity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DFBA19-9C3E-456E-B28C-C57B1C50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340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Where could earlier action or better visibility recover capacity that is lost today?</a:t>
            </a:r>
          </a:p>
        </p:txBody>
      </p:sp>
    </p:spTree>
    <p:extLst>
      <p:ext uri="{BB962C8B-B14F-4D97-AF65-F5344CB8AC3E}">
        <p14:creationId xmlns:p14="http://schemas.microsoft.com/office/powerpoint/2010/main" val="337901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2026-04-18T09:48:48.1460000Z</dcterms:created>
  <dcterms:modified xsi:type="dcterms:W3CDTF">2026-04-18T09:48:48.1460000Z</dcterms:modified>
</coreProperties>
</file>