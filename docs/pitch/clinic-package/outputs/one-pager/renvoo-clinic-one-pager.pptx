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287000" cy="145542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84" d="100"/>
          <a:sy n="84" d="100"/>
        </p:scale>
        <p:origin x="268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One-page leave-behind aligned to the clinic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23FEBC-CA2D-4508-87D1-266EC3A27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03B566B-7D05-4622-8A2D-FA417E4CC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6626D6A-294F-4B24-8968-CF4A3D023A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F35077-4A0D-40D1-9F38-34B55C0578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7B97F81-3008-412D-8264-6A25BC7B8B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E9145CE-EC30-41AB-BD65-25A56471572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A4D6E84-3F1B-4F5F-8C48-3BFBD1B6755F}"/>
              </a:ext>
            </a:extLst>
          </p:cNvPr>
          <p:cNvSpPr>
            <a:spLocks noGrp="1"/>
          </p:cNvSpPr>
          <p:nvPr/>
        </p:nvSpPr>
        <p:spPr>
          <a:xfrm>
            <a:off x="7810500" y="-381000"/>
            <a:ext cx="2476500" cy="2095500"/>
          </a:xfrm>
          <a:prstGeom prst="ellipse">
            <a:avLst/>
          </a:prstGeom>
          <a:solidFill>
            <a:srgbClr val="E8F7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226E75-0E8A-4319-854E-D5B71DEE0B8B}"/>
              </a:ext>
            </a:extLst>
          </p:cNvPr>
          <p:cNvSpPr>
            <a:spLocks noGrp="1"/>
          </p:cNvSpPr>
          <p:nvPr/>
        </p:nvSpPr>
        <p:spPr>
          <a:xfrm>
            <a:off x="-571500" y="12858750"/>
            <a:ext cx="2286000" cy="1524000"/>
          </a:xfrm>
          <a:prstGeom prst="ellipse">
            <a:avLst/>
          </a:prstGeom>
          <a:solidFill>
            <a:srgbClr val="F4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74426"/>
            <a:ext cx="914400" cy="1137049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15A7DE-0059-4567-809E-6927B9A4224D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695450" cy="266700"/>
          </a:xfrm>
          <a:prstGeom prst="roundRect">
            <a:avLst>
              <a:gd name="adj" fmla="val 28571"/>
            </a:avLst>
          </a:prstGeom>
          <a:solidFill>
            <a:srgbClr val="F4FBFC"/>
          </a:solidFill>
          <a:ln w="9525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6153D-195C-4481-B864-773429AC9A02}"/>
              </a:ext>
            </a:extLst>
          </p:cNvPr>
          <p:cNvSpPr>
            <a:spLocks noGrp="1"/>
          </p:cNvSpPr>
          <p:nvPr/>
        </p:nvSpPr>
        <p:spPr>
          <a:xfrm>
            <a:off x="800100" y="1314450"/>
            <a:ext cx="1466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For Dutch dental clinics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8F713-4286-4C61-A432-C54B95E84F79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5334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861"/>
          </a:bodyPr>
          <a:lstStyle/>
          <a:p>
            <a:pPr algn="l">
              <a:defRPr sz="3600" b="1">
                <a:solidFill>
                  <a:srgbClr val="18343C"/>
                </a:solidFill>
              </a:defRPr>
            </a:pPr>
            <a:r>
              <a:rPr sz="3600" b="1">
                <a:solidFill>
                  <a:srgbClr val="18343C"/>
                </a:solidFill>
              </a:rPr>
              <a:t>Reduce no-shows. Recover lost appointments.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866D9F-7500-47BB-B243-3E463131DEF5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533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443"/>
          </a:bodyPr>
          <a:lstStyle/>
          <a:p>
            <a:pPr algn="l">
              <a:defRPr sz="1650" b="0">
                <a:solidFill>
                  <a:srgbClr val="5D757C"/>
                </a:solidFill>
              </a:defRPr>
            </a:pPr>
            <a:r>
              <a:rPr sz="1650" b="0">
                <a:solidFill>
                  <a:srgbClr val="5D757C"/>
                </a:solidFill>
              </a:rPr>
              <a:t>Renvoo helps dental clinics reduce no-shows, handle late cancellations earlier, and recover lost appointment capacity without adding front-desk work.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55F8385-CC0E-4130-ACA7-4E8603D8F12A}"/>
              </a:ext>
            </a:extLst>
          </p:cNvPr>
          <p:cNvSpPr>
            <a:spLocks noGrp="1"/>
          </p:cNvSpPr>
          <p:nvPr/>
        </p:nvSpPr>
        <p:spPr>
          <a:xfrm>
            <a:off x="6248400" y="1276350"/>
            <a:ext cx="3352800" cy="2266950"/>
          </a:xfrm>
          <a:prstGeom prst="roundRect">
            <a:avLst>
              <a:gd name="adj" fmla="val 336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178760D-64FA-4F53-96B4-3906CD7FDDC2}"/>
              </a:ext>
            </a:extLst>
          </p:cNvPr>
          <p:cNvSpPr>
            <a:spLocks noGrp="1"/>
          </p:cNvSpPr>
          <p:nvPr/>
        </p:nvSpPr>
        <p:spPr>
          <a:xfrm>
            <a:off x="6400800" y="1428750"/>
            <a:ext cx="3048000" cy="1847850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7B7B7-A130-43D3-968A-FC44AA22599F}"/>
              </a:ext>
            </a:extLst>
          </p:cNvPr>
          <p:cNvSpPr>
            <a:spLocks noGrp="1"/>
          </p:cNvSpPr>
          <p:nvPr/>
        </p:nvSpPr>
        <p:spPr>
          <a:xfrm>
            <a:off x="6400800" y="1428750"/>
            <a:ext cx="3048000" cy="438150"/>
          </a:xfrm>
          <a:prstGeom prst="rect">
            <a:avLst/>
          </a:prstGeom>
          <a:solidFill>
            <a:srgbClr val="F4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5C691C-825C-4958-A340-EBE81B1E400C}"/>
              </a:ext>
            </a:extLst>
          </p:cNvPr>
          <p:cNvSpPr>
            <a:spLocks noGrp="1"/>
          </p:cNvSpPr>
          <p:nvPr/>
        </p:nvSpPr>
        <p:spPr>
          <a:xfrm>
            <a:off x="6591300" y="15621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343C"/>
                </a:solidFill>
              </a:defRPr>
            </a:pPr>
            <a:r>
              <a:rPr sz="1125" b="1">
                <a:solidFill>
                  <a:srgbClr val="18343C"/>
                </a:solidFill>
              </a:rPr>
              <a:t>Calendar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1D1A3F-D412-4C65-A986-87671A13AB9D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9525" cy="10096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839213-8DA5-47EA-B25D-6FB1E9906229}"/>
              </a:ext>
            </a:extLst>
          </p:cNvPr>
          <p:cNvSpPr>
            <a:spLocks noGrp="1"/>
          </p:cNvSpPr>
          <p:nvPr/>
        </p:nvSpPr>
        <p:spPr>
          <a:xfrm>
            <a:off x="7098030" y="2095500"/>
            <a:ext cx="9525" cy="10096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E42613-A320-4117-BFE2-5E2D48F5ADA3}"/>
              </a:ext>
            </a:extLst>
          </p:cNvPr>
          <p:cNvSpPr>
            <a:spLocks noGrp="1"/>
          </p:cNvSpPr>
          <p:nvPr/>
        </p:nvSpPr>
        <p:spPr>
          <a:xfrm>
            <a:off x="7623810" y="2095500"/>
            <a:ext cx="9525" cy="10096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BC1F4B-A0D9-4E3B-B883-1AAD397C6EDF}"/>
              </a:ext>
            </a:extLst>
          </p:cNvPr>
          <p:cNvSpPr>
            <a:spLocks noGrp="1"/>
          </p:cNvSpPr>
          <p:nvPr/>
        </p:nvSpPr>
        <p:spPr>
          <a:xfrm>
            <a:off x="8149590" y="2095500"/>
            <a:ext cx="9525" cy="10096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8124B7-A6F5-4C89-AFDD-E0DF633DBBA6}"/>
              </a:ext>
            </a:extLst>
          </p:cNvPr>
          <p:cNvSpPr>
            <a:spLocks noGrp="1"/>
          </p:cNvSpPr>
          <p:nvPr/>
        </p:nvSpPr>
        <p:spPr>
          <a:xfrm>
            <a:off x="8675370" y="2095500"/>
            <a:ext cx="9525" cy="10096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21BD5F-4779-4FCB-9B4D-89105B380B2B}"/>
              </a:ext>
            </a:extLst>
          </p:cNvPr>
          <p:cNvSpPr>
            <a:spLocks noGrp="1"/>
          </p:cNvSpPr>
          <p:nvPr/>
        </p:nvSpPr>
        <p:spPr>
          <a:xfrm>
            <a:off x="9201150" y="2095500"/>
            <a:ext cx="9525" cy="1009650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500530-86D9-41EE-B302-AC593FAD9FA6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26289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A77A69-3BA3-4FFC-B510-EDE6F0ECC8A7}"/>
              </a:ext>
            </a:extLst>
          </p:cNvPr>
          <p:cNvSpPr>
            <a:spLocks noGrp="1"/>
          </p:cNvSpPr>
          <p:nvPr/>
        </p:nvSpPr>
        <p:spPr>
          <a:xfrm>
            <a:off x="6572250" y="2297430"/>
            <a:ext cx="26289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C73325-8714-4E00-A947-5045CB0C6451}"/>
              </a:ext>
            </a:extLst>
          </p:cNvPr>
          <p:cNvSpPr>
            <a:spLocks noGrp="1"/>
          </p:cNvSpPr>
          <p:nvPr/>
        </p:nvSpPr>
        <p:spPr>
          <a:xfrm>
            <a:off x="6572250" y="2499360"/>
            <a:ext cx="26289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52E4A8-DADD-4EDD-A62C-3E9F797A2A06}"/>
              </a:ext>
            </a:extLst>
          </p:cNvPr>
          <p:cNvSpPr>
            <a:spLocks noGrp="1"/>
          </p:cNvSpPr>
          <p:nvPr/>
        </p:nvSpPr>
        <p:spPr>
          <a:xfrm>
            <a:off x="6572250" y="2701290"/>
            <a:ext cx="26289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F52FE5-F1E9-4DDC-9757-66BE20D71C46}"/>
              </a:ext>
            </a:extLst>
          </p:cNvPr>
          <p:cNvSpPr>
            <a:spLocks noGrp="1"/>
          </p:cNvSpPr>
          <p:nvPr/>
        </p:nvSpPr>
        <p:spPr>
          <a:xfrm>
            <a:off x="6572250" y="2903220"/>
            <a:ext cx="26289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2ACF75-7E80-4B63-94F0-9E9A8F408438}"/>
              </a:ext>
            </a:extLst>
          </p:cNvPr>
          <p:cNvSpPr>
            <a:spLocks noGrp="1"/>
          </p:cNvSpPr>
          <p:nvPr/>
        </p:nvSpPr>
        <p:spPr>
          <a:xfrm>
            <a:off x="6572250" y="3105150"/>
            <a:ext cx="26289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00903DA-928E-4042-821D-BAF019F5DE36}"/>
              </a:ext>
            </a:extLst>
          </p:cNvPr>
          <p:cNvSpPr>
            <a:spLocks noGrp="1"/>
          </p:cNvSpPr>
          <p:nvPr/>
        </p:nvSpPr>
        <p:spPr>
          <a:xfrm>
            <a:off x="6648450" y="217170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18C4CF"/>
          </a:solidFill>
          <a:ln w="9525">
            <a:solidFill>
              <a:srgbClr val="18C4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3A2DACA-750B-49E8-BC1F-82D25BEC464C}"/>
              </a:ext>
            </a:extLst>
          </p:cNvPr>
          <p:cNvSpPr>
            <a:spLocks noGrp="1"/>
          </p:cNvSpPr>
          <p:nvPr/>
        </p:nvSpPr>
        <p:spPr>
          <a:xfrm>
            <a:off x="7700010" y="217170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E4514D"/>
          </a:solidFill>
          <a:ln w="9525">
            <a:solidFill>
              <a:srgbClr val="E4514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4A17EA1-096D-493E-BB3E-0AD4B757B230}"/>
              </a:ext>
            </a:extLst>
          </p:cNvPr>
          <p:cNvSpPr>
            <a:spLocks noGrp="1"/>
          </p:cNvSpPr>
          <p:nvPr/>
        </p:nvSpPr>
        <p:spPr>
          <a:xfrm>
            <a:off x="7174230" y="237363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0D6175"/>
          </a:solidFill>
          <a:ln w="9525">
            <a:solidFill>
              <a:srgbClr val="0D617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70A747A-1E22-48FC-B551-02507BC9EBB6}"/>
              </a:ext>
            </a:extLst>
          </p:cNvPr>
          <p:cNvSpPr>
            <a:spLocks noGrp="1"/>
          </p:cNvSpPr>
          <p:nvPr/>
        </p:nvSpPr>
        <p:spPr>
          <a:xfrm>
            <a:off x="7700010" y="237363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E4514D"/>
          </a:solidFill>
          <a:ln w="9525">
            <a:solidFill>
              <a:srgbClr val="E4514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358BF2E-2B6E-4A02-ACD3-181725BB0E6E}"/>
              </a:ext>
            </a:extLst>
          </p:cNvPr>
          <p:cNvSpPr>
            <a:spLocks noGrp="1"/>
          </p:cNvSpPr>
          <p:nvPr/>
        </p:nvSpPr>
        <p:spPr>
          <a:xfrm>
            <a:off x="8751570" y="237363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18C4CF"/>
          </a:solidFill>
          <a:ln w="9525">
            <a:solidFill>
              <a:srgbClr val="18C4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051B29E-F057-422E-8BCB-BC622BC7EA10}"/>
              </a:ext>
            </a:extLst>
          </p:cNvPr>
          <p:cNvSpPr>
            <a:spLocks noGrp="1"/>
          </p:cNvSpPr>
          <p:nvPr/>
        </p:nvSpPr>
        <p:spPr>
          <a:xfrm>
            <a:off x="6648450" y="257556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18C4CF"/>
          </a:solidFill>
          <a:ln w="9525">
            <a:solidFill>
              <a:srgbClr val="18C4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B1FA79B-69FE-45C9-8EB5-B5DD7ADF01CD}"/>
              </a:ext>
            </a:extLst>
          </p:cNvPr>
          <p:cNvSpPr>
            <a:spLocks noGrp="1"/>
          </p:cNvSpPr>
          <p:nvPr/>
        </p:nvSpPr>
        <p:spPr>
          <a:xfrm>
            <a:off x="8225790" y="257556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E4514D"/>
          </a:solidFill>
          <a:ln w="9525">
            <a:solidFill>
              <a:srgbClr val="E4514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F31197B-C89F-47F2-A5D2-C647ADC1F22C}"/>
              </a:ext>
            </a:extLst>
          </p:cNvPr>
          <p:cNvSpPr>
            <a:spLocks noGrp="1"/>
          </p:cNvSpPr>
          <p:nvPr/>
        </p:nvSpPr>
        <p:spPr>
          <a:xfrm>
            <a:off x="7174230" y="277749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E4514D"/>
          </a:solidFill>
          <a:ln w="9525">
            <a:solidFill>
              <a:srgbClr val="E4514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5E9F9F8-1BE8-4B48-A6A5-299E50C5A8C6}"/>
              </a:ext>
            </a:extLst>
          </p:cNvPr>
          <p:cNvSpPr>
            <a:spLocks noGrp="1"/>
          </p:cNvSpPr>
          <p:nvPr/>
        </p:nvSpPr>
        <p:spPr>
          <a:xfrm>
            <a:off x="8751570" y="277749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0D6175"/>
          </a:solidFill>
          <a:ln w="9525">
            <a:solidFill>
              <a:srgbClr val="0D6175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54C5C73-F1DB-4135-A6CC-0697E3E8BF72}"/>
              </a:ext>
            </a:extLst>
          </p:cNvPr>
          <p:cNvSpPr>
            <a:spLocks noGrp="1"/>
          </p:cNvSpPr>
          <p:nvPr/>
        </p:nvSpPr>
        <p:spPr>
          <a:xfrm>
            <a:off x="7700010" y="2979420"/>
            <a:ext cx="373380" cy="209550"/>
          </a:xfrm>
          <a:prstGeom prst="roundRect">
            <a:avLst>
              <a:gd name="adj" fmla="val 36364"/>
            </a:avLst>
          </a:prstGeom>
          <a:solidFill>
            <a:srgbClr val="E4514D"/>
          </a:solidFill>
          <a:ln w="9525">
            <a:solidFill>
              <a:srgbClr val="E4514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522CFCD-77EB-4D1C-9189-649F96EE4CBC}"/>
              </a:ext>
            </a:extLst>
          </p:cNvPr>
          <p:cNvSpPr>
            <a:spLocks noGrp="1"/>
          </p:cNvSpPr>
          <p:nvPr/>
        </p:nvSpPr>
        <p:spPr>
          <a:xfrm>
            <a:off x="7981950" y="1562100"/>
            <a:ext cx="1143000" cy="190500"/>
          </a:xfrm>
          <a:prstGeom prst="roundRect">
            <a:avLst>
              <a:gd name="adj" fmla="val 40000"/>
            </a:avLst>
          </a:prstGeom>
          <a:solidFill>
            <a:srgbClr val="FFF1F0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454009-1B97-4563-922F-3ECC0A2FDD77}"/>
              </a:ext>
            </a:extLst>
          </p:cNvPr>
          <p:cNvSpPr>
            <a:spLocks noGrp="1"/>
          </p:cNvSpPr>
          <p:nvPr/>
        </p:nvSpPr>
        <p:spPr>
          <a:xfrm>
            <a:off x="8077200" y="1609725"/>
            <a:ext cx="9525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E4514D"/>
                </a:solidFill>
              </a:defRPr>
            </a:pPr>
            <a:r>
              <a:rPr sz="750" b="1">
                <a:solidFill>
                  <a:srgbClr val="E4514D"/>
                </a:solidFill>
              </a:rPr>
              <a:t>high-risk slots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28F5E2-826F-4F4A-A351-28CFEBB43988}"/>
              </a:ext>
            </a:extLst>
          </p:cNvPr>
          <p:cNvSpPr>
            <a:spLocks noGrp="1"/>
          </p:cNvSpPr>
          <p:nvPr/>
        </p:nvSpPr>
        <p:spPr>
          <a:xfrm>
            <a:off x="685800" y="4162425"/>
            <a:ext cx="8915400" cy="14288"/>
          </a:xfrm>
          <a:prstGeom prst="rect">
            <a:avLst/>
          </a:prstGeom>
          <a:solidFill>
            <a:srgbClr val="D7EC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82C1DF-4648-4939-9233-B0B82C0D2E01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8343C"/>
                </a:solidFill>
              </a:defRPr>
            </a:pPr>
            <a:r>
              <a:rPr sz="1950" b="1">
                <a:solidFill>
                  <a:srgbClr val="18343C"/>
                </a:solidFill>
              </a:rPr>
              <a:t>Why the problem matters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3531CF-767E-4F63-AB6B-9B9DBDB122A9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8915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757C"/>
                </a:solidFill>
              </a:defRPr>
            </a:pPr>
            <a:r>
              <a:rPr sz="1275" b="0">
                <a:solidFill>
                  <a:srgbClr val="5D757C"/>
                </a:solidFill>
              </a:rPr>
              <a:t>Dental clinics lose money when booked chair time goes unused, and staff absorb the uncertainty through manual confirmations, rescheduling, and short-notice recovery work.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17459D8-26F4-443A-97C4-167581BA16A6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27813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8E495C7-66F2-4EBA-9705-F5CE7EFDDC90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76200" cy="1428750"/>
          </a:xfrm>
          <a:prstGeom prst="rect">
            <a:avLst/>
          </a:prstGeom>
          <a:solidFill>
            <a:srgbClr val="18C4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7758C1E-50C5-4FFD-9746-6995A7D4F7DA}"/>
              </a:ext>
            </a:extLst>
          </p:cNvPr>
          <p:cNvSpPr>
            <a:spLocks noGrp="1"/>
          </p:cNvSpPr>
          <p:nvPr/>
        </p:nvSpPr>
        <p:spPr>
          <a:xfrm>
            <a:off x="895350" y="552450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4036"/>
          </a:bodyPr>
          <a:lstStyle/>
          <a:p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No-shows turn booked time into lost revenue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F866AE3-48EB-4329-A1F3-EBA451212251}"/>
              </a:ext>
            </a:extLst>
          </p:cNvPr>
          <p:cNvSpPr>
            <a:spLocks noGrp="1"/>
          </p:cNvSpPr>
          <p:nvPr/>
        </p:nvSpPr>
        <p:spPr>
          <a:xfrm>
            <a:off x="895350" y="5867400"/>
            <a:ext cx="23622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Booked chair time only creates value if the patient actually attends the appointment.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AFB3879-3C64-4D70-9290-D7EF4B921A3E}"/>
              </a:ext>
            </a:extLst>
          </p:cNvPr>
          <p:cNvSpPr>
            <a:spLocks noGrp="1"/>
          </p:cNvSpPr>
          <p:nvPr/>
        </p:nvSpPr>
        <p:spPr>
          <a:xfrm>
            <a:off x="3752850" y="5353050"/>
            <a:ext cx="27813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D5D9C0-60CC-4B67-A584-574E7C9718D6}"/>
              </a:ext>
            </a:extLst>
          </p:cNvPr>
          <p:cNvSpPr>
            <a:spLocks noGrp="1"/>
          </p:cNvSpPr>
          <p:nvPr/>
        </p:nvSpPr>
        <p:spPr>
          <a:xfrm>
            <a:off x="3752850" y="5353050"/>
            <a:ext cx="76200" cy="1428750"/>
          </a:xfrm>
          <a:prstGeom prst="rect">
            <a:avLst/>
          </a:prstGeom>
          <a:solidFill>
            <a:srgbClr val="E451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F2C1C3-87AA-4099-AC37-56555B002019}"/>
              </a:ext>
            </a:extLst>
          </p:cNvPr>
          <p:cNvSpPr>
            <a:spLocks noGrp="1"/>
          </p:cNvSpPr>
          <p:nvPr/>
        </p:nvSpPr>
        <p:spPr>
          <a:xfrm>
            <a:off x="3962400" y="552450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3503"/>
          </a:bodyPr>
          <a:lstStyle/>
          <a:p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Late cancellations still leave chair time empty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CBAD01-9FE4-4AB1-9887-87285877B00E}"/>
              </a:ext>
            </a:extLst>
          </p:cNvPr>
          <p:cNvSpPr>
            <a:spLocks noGrp="1"/>
          </p:cNvSpPr>
          <p:nvPr/>
        </p:nvSpPr>
        <p:spPr>
          <a:xfrm>
            <a:off x="3962400" y="5867400"/>
            <a:ext cx="23622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Late notice can still leave too little time to recover the slot.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8EF78EA-074B-40D6-82C9-2200E3928294}"/>
              </a:ext>
            </a:extLst>
          </p:cNvPr>
          <p:cNvSpPr>
            <a:spLocks noGrp="1"/>
          </p:cNvSpPr>
          <p:nvPr/>
        </p:nvSpPr>
        <p:spPr>
          <a:xfrm>
            <a:off x="6819900" y="5353050"/>
            <a:ext cx="27813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90D7227-14C3-428D-A501-7506729467D4}"/>
              </a:ext>
            </a:extLst>
          </p:cNvPr>
          <p:cNvSpPr>
            <a:spLocks noGrp="1"/>
          </p:cNvSpPr>
          <p:nvPr/>
        </p:nvSpPr>
        <p:spPr>
          <a:xfrm>
            <a:off x="6819900" y="5353050"/>
            <a:ext cx="76200" cy="1428750"/>
          </a:xfrm>
          <a:prstGeom prst="rect">
            <a:avLst/>
          </a:prstGeom>
          <a:solidFill>
            <a:srgbClr val="18C4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6CDA39-8FBE-45A2-88EC-B531F3022224}"/>
              </a:ext>
            </a:extLst>
          </p:cNvPr>
          <p:cNvSpPr>
            <a:spLocks noGrp="1"/>
          </p:cNvSpPr>
          <p:nvPr/>
        </p:nvSpPr>
        <p:spPr>
          <a:xfrm>
            <a:off x="7029450" y="552450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6164"/>
          </a:bodyPr>
          <a:lstStyle/>
          <a:p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Reminders exist. Prevention does not.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1C0C2D-DC95-4853-8AF1-5509F29FE4AD}"/>
              </a:ext>
            </a:extLst>
          </p:cNvPr>
          <p:cNvSpPr>
            <a:spLocks noGrp="1"/>
          </p:cNvSpPr>
          <p:nvPr/>
        </p:nvSpPr>
        <p:spPr>
          <a:xfrm>
            <a:off x="7029450" y="5867400"/>
            <a:ext cx="23622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Standard reminders still leave clinics reacting too late around risk.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A0122DD-BAB4-439D-925D-78E8858408BE}"/>
              </a:ext>
            </a:extLst>
          </p:cNvPr>
          <p:cNvSpPr>
            <a:spLocks noGrp="1"/>
          </p:cNvSpPr>
          <p:nvPr/>
        </p:nvSpPr>
        <p:spPr>
          <a:xfrm>
            <a:off x="685800" y="7105650"/>
            <a:ext cx="8915400" cy="914400"/>
          </a:xfrm>
          <a:prstGeom prst="roundRect">
            <a:avLst>
              <a:gd name="adj" fmla="val 8333"/>
            </a:avLst>
          </a:prstGeom>
          <a:solidFill>
            <a:srgbClr val="19307A"/>
          </a:solidFill>
          <a:ln w="9525">
            <a:solidFill>
              <a:srgbClr val="1930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27F2DB0-0228-4D14-B39C-3416FF28CD1E}"/>
              </a:ext>
            </a:extLst>
          </p:cNvPr>
          <p:cNvSpPr>
            <a:spLocks noGrp="1"/>
          </p:cNvSpPr>
          <p:nvPr/>
        </p:nvSpPr>
        <p:spPr>
          <a:xfrm>
            <a:off x="971550" y="733425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E1FF"/>
                </a:solidFill>
              </a:defRPr>
            </a:pPr>
            <a:r>
              <a:rPr sz="900" b="1">
                <a:solidFill>
                  <a:srgbClr val="D9E1FF"/>
                </a:solidFill>
              </a:rPr>
              <a:t>Illustrative clinic scenario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4CE0EE-4CFC-4337-B771-6A9EC4410CB5}"/>
              </a:ext>
            </a:extLst>
          </p:cNvPr>
          <p:cNvSpPr>
            <a:spLocks noGrp="1"/>
          </p:cNvSpPr>
          <p:nvPr/>
        </p:nvSpPr>
        <p:spPr>
          <a:xfrm>
            <a:off x="971550" y="7620000"/>
            <a:ext cx="8343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0692"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 missed appointments/day can translate into roughly EUR 8k/month in lost revenue if the slots are not recovered.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D836200-B220-4354-9A18-58CFCFFF6DC9}"/>
              </a:ext>
            </a:extLst>
          </p:cNvPr>
          <p:cNvSpPr>
            <a:spLocks noGrp="1"/>
          </p:cNvSpPr>
          <p:nvPr/>
        </p:nvSpPr>
        <p:spPr>
          <a:xfrm>
            <a:off x="685800" y="8305800"/>
            <a:ext cx="8915400" cy="14288"/>
          </a:xfrm>
          <a:prstGeom prst="rect">
            <a:avLst/>
          </a:prstGeom>
          <a:solidFill>
            <a:srgbClr val="D7EC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A1F517C-4820-4DEA-8166-6329A89795D4}"/>
              </a:ext>
            </a:extLst>
          </p:cNvPr>
          <p:cNvSpPr>
            <a:spLocks noGrp="1"/>
          </p:cNvSpPr>
          <p:nvPr/>
        </p:nvSpPr>
        <p:spPr>
          <a:xfrm>
            <a:off x="685800" y="855345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8343C"/>
                </a:solidFill>
              </a:defRPr>
            </a:pPr>
            <a:r>
              <a:rPr sz="1950" b="1">
                <a:solidFill>
                  <a:srgbClr val="18343C"/>
                </a:solidFill>
              </a:rPr>
              <a:t>What Renvoo changes operationally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7934E49B-4B91-4E9A-8015-43A817F6D045}"/>
              </a:ext>
            </a:extLst>
          </p:cNvPr>
          <p:cNvSpPr>
            <a:spLocks noGrp="1"/>
          </p:cNvSpPr>
          <p:nvPr/>
        </p:nvSpPr>
        <p:spPr>
          <a:xfrm>
            <a:off x="685800" y="9010650"/>
            <a:ext cx="4381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8A386EC-98FA-4125-8979-1FCF314808CC}"/>
              </a:ext>
            </a:extLst>
          </p:cNvPr>
          <p:cNvSpPr>
            <a:spLocks noGrp="1"/>
          </p:cNvSpPr>
          <p:nvPr/>
        </p:nvSpPr>
        <p:spPr>
          <a:xfrm>
            <a:off x="857250" y="9182100"/>
            <a:ext cx="323850" cy="323850"/>
          </a:xfrm>
          <a:prstGeom prst="ellipse">
            <a:avLst/>
          </a:prstGeom>
          <a:solidFill>
            <a:srgbClr val="E8F7F8"/>
          </a:solidFill>
          <a:ln w="9525">
            <a:solidFill>
              <a:srgbClr val="18C4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FE64210-C5B8-408C-BF7A-D895C83BE0F3}"/>
              </a:ext>
            </a:extLst>
          </p:cNvPr>
          <p:cNvSpPr>
            <a:spLocks noGrp="1"/>
          </p:cNvSpPr>
          <p:nvPr/>
        </p:nvSpPr>
        <p:spPr>
          <a:xfrm>
            <a:off x="857250" y="9258300"/>
            <a:ext cx="323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71B000E-A900-4E1C-93BF-40C04F481310}"/>
              </a:ext>
            </a:extLst>
          </p:cNvPr>
          <p:cNvSpPr>
            <a:spLocks noGrp="1"/>
          </p:cNvSpPr>
          <p:nvPr/>
        </p:nvSpPr>
        <p:spPr>
          <a:xfrm>
            <a:off x="1314450" y="9182100"/>
            <a:ext cx="3581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Identify higher-risk appointments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B58815DF-1E26-443E-B52B-86C4AE8B8E00}"/>
              </a:ext>
            </a:extLst>
          </p:cNvPr>
          <p:cNvSpPr>
            <a:spLocks noGrp="1"/>
          </p:cNvSpPr>
          <p:nvPr/>
        </p:nvSpPr>
        <p:spPr>
          <a:xfrm>
            <a:off x="5219700" y="9010650"/>
            <a:ext cx="4381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2932593-5C48-4924-A05F-F9857E6E6EE4}"/>
              </a:ext>
            </a:extLst>
          </p:cNvPr>
          <p:cNvSpPr>
            <a:spLocks noGrp="1"/>
          </p:cNvSpPr>
          <p:nvPr/>
        </p:nvSpPr>
        <p:spPr>
          <a:xfrm>
            <a:off x="5391150" y="9182100"/>
            <a:ext cx="323850" cy="323850"/>
          </a:xfrm>
          <a:prstGeom prst="ellipse">
            <a:avLst/>
          </a:prstGeom>
          <a:solidFill>
            <a:srgbClr val="E8F7F8"/>
          </a:solidFill>
          <a:ln w="9525">
            <a:solidFill>
              <a:srgbClr val="18C4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12F1F65-21FA-42B2-B982-357AF2EB94C9}"/>
              </a:ext>
            </a:extLst>
          </p:cNvPr>
          <p:cNvSpPr>
            <a:spLocks noGrp="1"/>
          </p:cNvSpPr>
          <p:nvPr/>
        </p:nvSpPr>
        <p:spPr>
          <a:xfrm>
            <a:off x="5391150" y="9258300"/>
            <a:ext cx="323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24CC552-D0AF-4E1E-94EC-B386CC7A4215}"/>
              </a:ext>
            </a:extLst>
          </p:cNvPr>
          <p:cNvSpPr>
            <a:spLocks noGrp="1"/>
          </p:cNvSpPr>
          <p:nvPr/>
        </p:nvSpPr>
        <p:spPr>
          <a:xfrm>
            <a:off x="5848350" y="9182100"/>
            <a:ext cx="3581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Trigger stronger confirmation or rescheduling earlier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5030FF9-D9CC-426D-9B94-5F89C61CED14}"/>
              </a:ext>
            </a:extLst>
          </p:cNvPr>
          <p:cNvSpPr>
            <a:spLocks noGrp="1"/>
          </p:cNvSpPr>
          <p:nvPr/>
        </p:nvSpPr>
        <p:spPr>
          <a:xfrm>
            <a:off x="685800" y="9886950"/>
            <a:ext cx="4381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75525A3-0595-4550-8E04-44558FFA7B73}"/>
              </a:ext>
            </a:extLst>
          </p:cNvPr>
          <p:cNvSpPr>
            <a:spLocks noGrp="1"/>
          </p:cNvSpPr>
          <p:nvPr/>
        </p:nvSpPr>
        <p:spPr>
          <a:xfrm>
            <a:off x="857250" y="10058400"/>
            <a:ext cx="323850" cy="323850"/>
          </a:xfrm>
          <a:prstGeom prst="ellipse">
            <a:avLst/>
          </a:prstGeom>
          <a:solidFill>
            <a:srgbClr val="E8F7F8"/>
          </a:solidFill>
          <a:ln w="9525">
            <a:solidFill>
              <a:srgbClr val="18C4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72B8A95-1C96-446F-A173-F5FF7AA356D5}"/>
              </a:ext>
            </a:extLst>
          </p:cNvPr>
          <p:cNvSpPr>
            <a:spLocks noGrp="1"/>
          </p:cNvSpPr>
          <p:nvPr/>
        </p:nvSpPr>
        <p:spPr>
          <a:xfrm>
            <a:off x="857250" y="10134600"/>
            <a:ext cx="323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A6D136C-06A8-4952-9F03-CB66FF7DCE91}"/>
              </a:ext>
            </a:extLst>
          </p:cNvPr>
          <p:cNvSpPr>
            <a:spLocks noGrp="1"/>
          </p:cNvSpPr>
          <p:nvPr/>
        </p:nvSpPr>
        <p:spPr>
          <a:xfrm>
            <a:off x="1314450" y="10058400"/>
            <a:ext cx="3581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Track patient response centrally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356E61E6-5122-4CEF-A4C8-06234A040030}"/>
              </a:ext>
            </a:extLst>
          </p:cNvPr>
          <p:cNvSpPr>
            <a:spLocks noGrp="1"/>
          </p:cNvSpPr>
          <p:nvPr/>
        </p:nvSpPr>
        <p:spPr>
          <a:xfrm>
            <a:off x="5219700" y="9886950"/>
            <a:ext cx="4381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2B4FE39-3429-4857-835D-5FDC7C58F504}"/>
              </a:ext>
            </a:extLst>
          </p:cNvPr>
          <p:cNvSpPr>
            <a:spLocks noGrp="1"/>
          </p:cNvSpPr>
          <p:nvPr/>
        </p:nvSpPr>
        <p:spPr>
          <a:xfrm>
            <a:off x="5391150" y="10058400"/>
            <a:ext cx="323850" cy="323850"/>
          </a:xfrm>
          <a:prstGeom prst="ellipse">
            <a:avLst/>
          </a:prstGeom>
          <a:solidFill>
            <a:srgbClr val="E8F7F8"/>
          </a:solidFill>
          <a:ln w="9525">
            <a:solidFill>
              <a:srgbClr val="18C4C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8213700-27EC-426F-ADA8-1E5CA9A0382B}"/>
              </a:ext>
            </a:extLst>
          </p:cNvPr>
          <p:cNvSpPr>
            <a:spLocks noGrp="1"/>
          </p:cNvSpPr>
          <p:nvPr/>
        </p:nvSpPr>
        <p:spPr>
          <a:xfrm>
            <a:off x="5391150" y="10134600"/>
            <a:ext cx="323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FDA2079-E2BD-41B4-949F-24F8CBBC7A3B}"/>
              </a:ext>
            </a:extLst>
          </p:cNvPr>
          <p:cNvSpPr>
            <a:spLocks noGrp="1"/>
          </p:cNvSpPr>
          <p:nvPr/>
        </p:nvSpPr>
        <p:spPr>
          <a:xfrm>
            <a:off x="5848350" y="10058400"/>
            <a:ext cx="3581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Recover otherwise lost capacity when possible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5492E8B-0D94-44FB-B5E9-739513FE6346}"/>
              </a:ext>
            </a:extLst>
          </p:cNvPr>
          <p:cNvSpPr>
            <a:spLocks noGrp="1"/>
          </p:cNvSpPr>
          <p:nvPr/>
        </p:nvSpPr>
        <p:spPr>
          <a:xfrm>
            <a:off x="685800" y="108775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8343C"/>
                </a:solidFill>
              </a:defRPr>
            </a:pPr>
            <a:r>
              <a:rPr sz="1650" b="1">
                <a:solidFill>
                  <a:srgbClr val="18343C"/>
                </a:solidFill>
              </a:rPr>
              <a:t>Low-friction for clinics by design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F4155FF-AD1A-4B6D-8434-D5B85A057AA6}"/>
              </a:ext>
            </a:extLst>
          </p:cNvPr>
          <p:cNvSpPr>
            <a:spLocks noGrp="1"/>
          </p:cNvSpPr>
          <p:nvPr/>
        </p:nvSpPr>
        <p:spPr>
          <a:xfrm>
            <a:off x="685800" y="11220450"/>
            <a:ext cx="27813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655C51-A8C6-485B-9171-F8E38E1E776E}"/>
              </a:ext>
            </a:extLst>
          </p:cNvPr>
          <p:cNvSpPr>
            <a:spLocks noGrp="1"/>
          </p:cNvSpPr>
          <p:nvPr/>
        </p:nvSpPr>
        <p:spPr>
          <a:xfrm>
            <a:off x="685800" y="11220450"/>
            <a:ext cx="76200" cy="914400"/>
          </a:xfrm>
          <a:prstGeom prst="rect">
            <a:avLst/>
          </a:prstGeom>
          <a:solidFill>
            <a:srgbClr val="18C4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38BC2DF-8804-4D12-8BE2-B4653A2BC49A}"/>
              </a:ext>
            </a:extLst>
          </p:cNvPr>
          <p:cNvSpPr>
            <a:spLocks noGrp="1"/>
          </p:cNvSpPr>
          <p:nvPr/>
        </p:nvSpPr>
        <p:spPr>
          <a:xfrm>
            <a:off x="895350" y="1139190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Administrative data only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F587DF1-E1EF-4783-B51F-6CF6BE7C2FD9}"/>
              </a:ext>
            </a:extLst>
          </p:cNvPr>
          <p:cNvSpPr>
            <a:spLocks noGrp="1"/>
          </p:cNvSpPr>
          <p:nvPr/>
        </p:nvSpPr>
        <p:spPr>
          <a:xfrm>
            <a:off x="895350" y="117348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No diagnoses or clinical notes.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DE922E9-C519-4E6B-AAAC-B0657F9988CC}"/>
              </a:ext>
            </a:extLst>
          </p:cNvPr>
          <p:cNvSpPr>
            <a:spLocks noGrp="1"/>
          </p:cNvSpPr>
          <p:nvPr/>
        </p:nvSpPr>
        <p:spPr>
          <a:xfrm>
            <a:off x="3752850" y="11220450"/>
            <a:ext cx="27813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3C54F05-706C-488F-ADE3-D3B7E83AF9F2}"/>
              </a:ext>
            </a:extLst>
          </p:cNvPr>
          <p:cNvSpPr>
            <a:spLocks noGrp="1"/>
          </p:cNvSpPr>
          <p:nvPr/>
        </p:nvSpPr>
        <p:spPr>
          <a:xfrm>
            <a:off x="3752850" y="11220450"/>
            <a:ext cx="76200" cy="914400"/>
          </a:xfrm>
          <a:prstGeom prst="rect">
            <a:avLst/>
          </a:prstGeom>
          <a:solidFill>
            <a:srgbClr val="18C4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A00C42B-981D-45CF-B615-38EFBD6211B9}"/>
              </a:ext>
            </a:extLst>
          </p:cNvPr>
          <p:cNvSpPr>
            <a:spLocks noGrp="1"/>
          </p:cNvSpPr>
          <p:nvPr/>
        </p:nvSpPr>
        <p:spPr>
          <a:xfrm>
            <a:off x="3962400" y="1139190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Lightweight onboarding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1D33260-1F0B-417E-AF83-D5F60C982386}"/>
              </a:ext>
            </a:extLst>
          </p:cNvPr>
          <p:cNvSpPr>
            <a:spLocks noGrp="1"/>
          </p:cNvSpPr>
          <p:nvPr/>
        </p:nvSpPr>
        <p:spPr>
          <a:xfrm>
            <a:off x="3962400" y="117348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208"/>
          </a:bodyPr>
          <a:lstStyle/>
          <a:p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CSV-first and read-only paths first.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A4CFB8BC-5B23-445D-AD9B-97EEFAF7C2CD}"/>
              </a:ext>
            </a:extLst>
          </p:cNvPr>
          <p:cNvSpPr>
            <a:spLocks noGrp="1"/>
          </p:cNvSpPr>
          <p:nvPr/>
        </p:nvSpPr>
        <p:spPr>
          <a:xfrm>
            <a:off x="6819900" y="11220450"/>
            <a:ext cx="27813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D8A6D4E-5964-4F79-BEAE-0B6368C786AA}"/>
              </a:ext>
            </a:extLst>
          </p:cNvPr>
          <p:cNvSpPr>
            <a:spLocks noGrp="1"/>
          </p:cNvSpPr>
          <p:nvPr/>
        </p:nvSpPr>
        <p:spPr>
          <a:xfrm>
            <a:off x="6819900" y="11220450"/>
            <a:ext cx="76200" cy="914400"/>
          </a:xfrm>
          <a:prstGeom prst="rect">
            <a:avLst/>
          </a:prstGeom>
          <a:solidFill>
            <a:srgbClr val="18C4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B2045E8-4001-41E3-94F8-0D4095B8CCAD}"/>
              </a:ext>
            </a:extLst>
          </p:cNvPr>
          <p:cNvSpPr>
            <a:spLocks noGrp="1"/>
          </p:cNvSpPr>
          <p:nvPr/>
        </p:nvSpPr>
        <p:spPr>
          <a:xfrm>
            <a:off x="7029450" y="1139190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Clinic control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DA9C31C-BECA-4838-8F03-DF6F9EE8A3CA}"/>
              </a:ext>
            </a:extLst>
          </p:cNvPr>
          <p:cNvSpPr>
            <a:spLocks noGrp="1"/>
          </p:cNvSpPr>
          <p:nvPr/>
        </p:nvSpPr>
        <p:spPr>
          <a:xfrm>
            <a:off x="7029450" y="117348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7264"/>
          </a:bodyPr>
          <a:lstStyle/>
          <a:p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Operational visibility without heavy disruption.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C36441F-F587-4A91-992C-65A05316544B}"/>
              </a:ext>
            </a:extLst>
          </p:cNvPr>
          <p:cNvSpPr>
            <a:spLocks noGrp="1"/>
          </p:cNvSpPr>
          <p:nvPr/>
        </p:nvSpPr>
        <p:spPr>
          <a:xfrm>
            <a:off x="685800" y="12325350"/>
            <a:ext cx="8915400" cy="14288"/>
          </a:xfrm>
          <a:prstGeom prst="rect">
            <a:avLst/>
          </a:prstGeom>
          <a:solidFill>
            <a:srgbClr val="D7EC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0DAF07C9-0DAC-4FCA-9F35-EB905BE50ABE}"/>
              </a:ext>
            </a:extLst>
          </p:cNvPr>
          <p:cNvSpPr>
            <a:spLocks noGrp="1"/>
          </p:cNvSpPr>
          <p:nvPr/>
        </p:nvSpPr>
        <p:spPr>
          <a:xfrm>
            <a:off x="685800" y="12573000"/>
            <a:ext cx="8915400" cy="876300"/>
          </a:xfrm>
          <a:prstGeom prst="roundRect">
            <a:avLst>
              <a:gd name="adj" fmla="val 8696"/>
            </a:avLst>
          </a:prstGeom>
          <a:solidFill>
            <a:srgbClr val="F4FBFC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CEB7B10-0F7F-4519-988C-56465516FD21}"/>
              </a:ext>
            </a:extLst>
          </p:cNvPr>
          <p:cNvSpPr>
            <a:spLocks noGrp="1"/>
          </p:cNvSpPr>
          <p:nvPr/>
        </p:nvSpPr>
        <p:spPr>
          <a:xfrm>
            <a:off x="933450" y="127825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089"/>
          </a:bodyPr>
          <a:lstStyle/>
          <a:p>
            <a:pPr algn="l">
              <a:defRPr sz="1500" b="1">
                <a:solidFill>
                  <a:srgbClr val="18343C"/>
                </a:solidFill>
              </a:defRPr>
            </a:pPr>
            <a:r>
              <a:rPr sz="1500" b="1">
                <a:solidFill>
                  <a:srgbClr val="18343C"/>
                </a:solidFill>
              </a:rPr>
              <a:t>Preliminary pilot pricing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5D915A3-0D8C-466C-913E-F393C4F8E1ED}"/>
              </a:ext>
            </a:extLst>
          </p:cNvPr>
          <p:cNvSpPr>
            <a:spLocks noGrp="1"/>
          </p:cNvSpPr>
          <p:nvPr/>
        </p:nvSpPr>
        <p:spPr>
          <a:xfrm>
            <a:off x="933450" y="13049250"/>
            <a:ext cx="842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0891"/>
          </a:bodyPr>
          <a:lstStyle/>
          <a:p>
            <a:pPr algn="l">
              <a:defRPr sz="1200" b="0">
                <a:solidFill>
                  <a:srgbClr val="5D757C"/>
                </a:solidFill>
              </a:defRPr>
            </a:pPr>
            <a:r>
              <a:rPr sz="1200" b="0">
                <a:solidFill>
                  <a:srgbClr val="5D757C"/>
                </a:solidFill>
              </a:rPr>
              <a:t>Preliminary pilot pricing starts at EUR 2.49 per appointment, plus a fixed fee depending on the clinic. Final pricing is still being shaped with pilot partners.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758704CF-0DD7-441D-8D64-7F5767018172}"/>
              </a:ext>
            </a:extLst>
          </p:cNvPr>
          <p:cNvSpPr>
            <a:spLocks noGrp="1"/>
          </p:cNvSpPr>
          <p:nvPr/>
        </p:nvSpPr>
        <p:spPr>
          <a:xfrm>
            <a:off x="685800" y="13696950"/>
            <a:ext cx="89154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1430">
            <a:solidFill>
              <a:srgbClr val="D7ECE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CE880FA-EFD8-4FBE-ADCF-EC8995DEC4C1}"/>
              </a:ext>
            </a:extLst>
          </p:cNvPr>
          <p:cNvSpPr>
            <a:spLocks noGrp="1"/>
          </p:cNvSpPr>
          <p:nvPr/>
        </p:nvSpPr>
        <p:spPr>
          <a:xfrm>
            <a:off x="933450" y="13906500"/>
            <a:ext cx="842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977"/>
          </a:bodyPr>
          <a:lstStyle/>
          <a:p>
            <a:pPr algn="l">
              <a:defRPr sz="1125" b="1">
                <a:solidFill>
                  <a:srgbClr val="18343C"/>
                </a:solidFill>
              </a:defRPr>
            </a:pPr>
            <a:r>
              <a:rPr sz="1125" b="1">
                <a:solidFill>
                  <a:srgbClr val="18343C"/>
                </a:solidFill>
              </a:rPr>
              <a:t>Renvoo is being built by Mohamed Ibrahim, former Electrical Subteam Lead for Team Polar at TU/e and part of the NVIDIA 6G Developer Program.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AEF15A0-261A-4167-A26C-E95108FFCD5A}"/>
              </a:ext>
            </a:extLst>
          </p:cNvPr>
          <p:cNvSpPr>
            <a:spLocks noGrp="1"/>
          </p:cNvSpPr>
          <p:nvPr/>
        </p:nvSpPr>
        <p:spPr>
          <a:xfrm>
            <a:off x="933450" y="14154150"/>
            <a:ext cx="842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7437"/>
          </a:bodyPr>
          <a:lstStyle/>
          <a:p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We are looking for a short validation meeting with a dental clinic owner or practice manager to review your current no-show and rescheduling workflow.</a:t>
            </a:r>
          </a:p>
        </p:txBody>
      </p:sp>
    </p:spTree>
    <p:extLst>
      <p:ext uri="{BB962C8B-B14F-4D97-AF65-F5344CB8AC3E}">
        <p14:creationId xmlns:p14="http://schemas.microsoft.com/office/powerpoint/2010/main" val="6685944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Macintosh PowerPoint</Application>
  <DocSecurity>0</DocSecurity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Mohamed Khaled Mohamed Ibrahim, Mohamed</cp:lastModifiedBy>
  <cp:revision>2</cp:revision>
  <dcterms:created xsi:type="dcterms:W3CDTF">2026-04-18T10:17:16Z</dcterms:created>
  <dcterms:modified xsi:type="dcterms:W3CDTF">2026-04-18T10:18:50Z</dcterms:modified>
</cp:coreProperties>
</file>