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79be7efb444960" /><Relationship Type="http://schemas.openxmlformats.org/officeDocument/2006/relationships/extended-properties" Target="/docProps/app.xml" Id="R2e25ee53c27a453a" /><Relationship Type="http://schemas.openxmlformats.org/officeDocument/2006/relationships/officeDocument" Target="/ppt/presentation.xml" Id="R914ac1912cb640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c4a498ef8948bb"/>
  </p:sldMasterIdLst>
  <p:notesMasterIdLst>
    <p:notesMasterId xmlns:r="http://schemas.openxmlformats.org/officeDocument/2006/relationships" r:id="Rd1bdd618a12541df"/>
  </p:notesMasterIdLst>
  <p:sldIdLst>
    <p:sldId xmlns:r="http://schemas.openxmlformats.org/officeDocument/2006/relationships" id="256" r:id="Rc6f1b329bb46421d"/>
    <p:sldId xmlns:r="http://schemas.openxmlformats.org/officeDocument/2006/relationships" id="257" r:id="R9052b6aa7888438c"/>
    <p:sldId xmlns:r="http://schemas.openxmlformats.org/officeDocument/2006/relationships" id="258" r:id="Re4adab0fe1854a22"/>
    <p:sldId xmlns:r="http://schemas.openxmlformats.org/officeDocument/2006/relationships" id="259" r:id="R9c5720c624b542b3"/>
    <p:sldId xmlns:r="http://schemas.openxmlformats.org/officeDocument/2006/relationships" id="260" r:id="R25109dd7ed0649e2"/>
    <p:sldId xmlns:r="http://schemas.openxmlformats.org/officeDocument/2006/relationships" id="261" r:id="R63d1d0f25f124e9d"/>
    <p:sldId xmlns:r="http://schemas.openxmlformats.org/officeDocument/2006/relationships" id="262" r:id="Re23c5214dfc045e7"/>
    <p:sldId xmlns:r="http://schemas.openxmlformats.org/officeDocument/2006/relationships" id="263" r:id="R48920c315b7641a7"/>
    <p:sldId xmlns:r="http://schemas.openxmlformats.org/officeDocument/2006/relationships" id="264" r:id="R6221547a6d91431e"/>
    <p:sldId xmlns:r="http://schemas.openxmlformats.org/officeDocument/2006/relationships" id="265" r:id="Rfdcb4bb11e6b47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4a498ef8948bb" /><Relationship Type="http://schemas.openxmlformats.org/officeDocument/2006/relationships/theme" Target="/ppt/theme/theme1.xml" Id="R879944c155934cc2" /><Relationship Type="http://schemas.openxmlformats.org/officeDocument/2006/relationships/notesMaster" Target="/ppt/notesMasters/notesMaster1.xml" Id="Rd1bdd618a12541df" /><Relationship Type="http://schemas.openxmlformats.org/officeDocument/2006/relationships/presProps" Target="/ppt/presProps.xml" Id="R884e51f66b3b48db" /><Relationship Type="http://schemas.openxmlformats.org/officeDocument/2006/relationships/viewProps" Target="/ppt/viewProps.xml" Id="Rd66cfd9f5b4547c1" /><Relationship Type="http://schemas.openxmlformats.org/officeDocument/2006/relationships/tableStyles" Target="/ppt/tableStyles.xml" Id="R8b136ec9bcff4416" /><Relationship Type="http://schemas.openxmlformats.org/officeDocument/2006/relationships/slide" Target="/ppt/slides/slide1.xml" Id="Rc6f1b329bb46421d" /><Relationship Type="http://schemas.openxmlformats.org/officeDocument/2006/relationships/slide" Target="/ppt/slides/slide2.xml" Id="R9052b6aa7888438c" /><Relationship Type="http://schemas.openxmlformats.org/officeDocument/2006/relationships/slide" Target="/ppt/slides/slide3.xml" Id="Re4adab0fe1854a22" /><Relationship Type="http://schemas.openxmlformats.org/officeDocument/2006/relationships/slide" Target="/ppt/slides/slide4.xml" Id="R9c5720c624b542b3" /><Relationship Type="http://schemas.openxmlformats.org/officeDocument/2006/relationships/slide" Target="/ppt/slides/slide5.xml" Id="R25109dd7ed0649e2" /><Relationship Type="http://schemas.openxmlformats.org/officeDocument/2006/relationships/slide" Target="/ppt/slides/slide6.xml" Id="R63d1d0f25f124e9d" /><Relationship Type="http://schemas.openxmlformats.org/officeDocument/2006/relationships/slide" Target="/ppt/slides/slide7.xml" Id="Re23c5214dfc045e7" /><Relationship Type="http://schemas.openxmlformats.org/officeDocument/2006/relationships/slide" Target="/ppt/slides/slide8.xml" Id="R48920c315b7641a7" /><Relationship Type="http://schemas.openxmlformats.org/officeDocument/2006/relationships/slide" Target="/ppt/slides/slide9.xml" Id="R6221547a6d91431e" /><Relationship Type="http://schemas.openxmlformats.org/officeDocument/2006/relationships/slide" Target="/ppt/slides/slide10.xml" Id="Rfdcb4bb11e6b47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6f0b472fcc40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ffec62bf7341e1" /><Relationship Type="http://schemas.openxmlformats.org/officeDocument/2006/relationships/notesMaster" Target="/ppt/notesMasters/notesMaster1.xml" Id="R5d33fb72bd094e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bc35d2ba604435" /><Relationship Type="http://schemas.openxmlformats.org/officeDocument/2006/relationships/notesMaster" Target="/ppt/notesMasters/notesMaster1.xml" Id="R75b968efca604e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6d33adfefd44b6" /><Relationship Type="http://schemas.openxmlformats.org/officeDocument/2006/relationships/notesMaster" Target="/ppt/notesMasters/notesMaster1.xml" Id="R075654fd4e1741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a03791eb4b4818" /><Relationship Type="http://schemas.openxmlformats.org/officeDocument/2006/relationships/notesMaster" Target="/ppt/notesMasters/notesMaster1.xml" Id="R69c746d31d19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95e84bc471449a" /><Relationship Type="http://schemas.openxmlformats.org/officeDocument/2006/relationships/notesMaster" Target="/ppt/notesMasters/notesMaster1.xml" Id="R66cef6d5433845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d3ffb78249405d" /><Relationship Type="http://schemas.openxmlformats.org/officeDocument/2006/relationships/notesMaster" Target="/ppt/notesMasters/notesMaster1.xml" Id="Rd4587744db074d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e80eb4574c4830" /><Relationship Type="http://schemas.openxmlformats.org/officeDocument/2006/relationships/notesMaster" Target="/ppt/notesMasters/notesMaster1.xml" Id="R4fce33019d3542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843b07ea9a4974" /><Relationship Type="http://schemas.openxmlformats.org/officeDocument/2006/relationships/notesMaster" Target="/ppt/notesMasters/notesMaster1.xml" Id="Rc3a650926d6e4d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380a641e75480e" /><Relationship Type="http://schemas.openxmlformats.org/officeDocument/2006/relationships/notesMaster" Target="/ppt/notesMasters/notesMaster1.xml" Id="R6b27737e58704b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a68efc69ad44f6" /><Relationship Type="http://schemas.openxmlformats.org/officeDocument/2006/relationships/notesMaster" Target="/ppt/notesMasters/notesMaster1.xml" Id="R71d521e979674e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clinic pain, not AI. The point is that empty chair time is a revenue problem and a workflow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scenario math, not proven pilot data. Keep the buyer focused on the cost of unused chair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late notice is still operational damage when there is no simple way to backfill the slot.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Differentiate Renvoo from a reminder tool. The wedge is risk-aware operations, not simple outbound messaging.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second half of the pain is labor. Clinics do not only lose revenue, they also absorb more admin overhead.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wedge logic. Dental is the clearest current market because the pain is concrete and measurable.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operational. Avoid product hype and avoid technical depth beyond the workflow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where trust is built. Emphasize narrow data boundaries, low-friction operational fit, and the simple clinic-SaaS posture.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preliminary clearly. The point is to show seriousness and affordability without pretending the pricing is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credibility and a light ask. The next step is a short validation meeting, not a heavy sales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49bd8ae994d9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63A8804-052A-45B8-B32C-72E73645407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A70689F-1B44-41CE-A496-96DFCAA138E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0148ADC-60B1-44C4-9E85-1A8E7E784BD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8841F1-C5B4-43D5-BD94-F0D09C96597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43abb9fe38346de" /><Relationship Type="http://schemas.openxmlformats.org/officeDocument/2006/relationships/slideLayout" Target="/ppt/slideLayouts/slideLayout2.xml" Id="R506570b88a0148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9CA0FE0-2822-41E7-AB01-78CDC723CED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6570b88a0148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f5d6f14ac94818" /><Relationship Type="http://schemas.openxmlformats.org/officeDocument/2006/relationships/notesSlide" Target="/ppt/notesSlides/notesSlide1.xml" Id="Rf426f322197148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7bfc0e38f24750" /><Relationship Type="http://schemas.openxmlformats.org/officeDocument/2006/relationships/notesSlide" Target="/ppt/notesSlides/notesSlide2.xml" Id="Rd669ccff6ac34d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06e6eb873243fb" /><Relationship Type="http://schemas.openxmlformats.org/officeDocument/2006/relationships/notesSlide" Target="/ppt/notesSlides/notesSlide3.xml" Id="Rca6e3c90d67849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e3ed884e844c8" /><Relationship Type="http://schemas.openxmlformats.org/officeDocument/2006/relationships/notesSlide" Target="/ppt/notesSlides/notesSlide4.xml" Id="R5f232ab16f984f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118aef86804f69" /><Relationship Type="http://schemas.openxmlformats.org/officeDocument/2006/relationships/notesSlide" Target="/ppt/notesSlides/notesSlide5.xml" Id="Re04de3fe5b8b4b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962265676d461a" /><Relationship Type="http://schemas.openxmlformats.org/officeDocument/2006/relationships/notesSlide" Target="/ppt/notesSlides/notesSlide6.xml" Id="Radaba0e974f440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14af4a1acb4ecd" /><Relationship Type="http://schemas.openxmlformats.org/officeDocument/2006/relationships/notesSlide" Target="/ppt/notesSlides/notesSlide7.xml" Id="Rd267dfec866d41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3c1a9375b74e58" /><Relationship Type="http://schemas.openxmlformats.org/officeDocument/2006/relationships/notesSlide" Target="/ppt/notesSlides/notesSlide8.xml" Id="R071cbf6f277640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6afb48f1624459" /><Relationship Type="http://schemas.openxmlformats.org/officeDocument/2006/relationships/notesSlide" Target="/ppt/notesSlides/notesSlide9.xml" Id="Rc047e2510a4b4b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00cbc0ad0649f3" /><Relationship Type="http://schemas.openxmlformats.org/officeDocument/2006/relationships/notesSlide" Target="/ppt/notesSlides/notesSlide10.xml" Id="R57f4371b0b9f4d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13E9D-99C1-4467-B5DF-3F8F2DFE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-762000"/>
            <a:ext cx="3429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E0AF7-CEE6-495A-A564-9558F7CD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91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DF830-C953-4537-8BA7-77F9BC5E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524500"/>
            <a:ext cx="2095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01515-ACF9-4F1A-950C-50F1406E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2369D-BC7E-42E1-B4DE-C7953191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57C97-21D8-4E20-870C-51135256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7700C-2200-4E32-9CC8-4FF74452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D9E2E-1411-4523-90BA-FD3756D7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6954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5596C-BE75-4747-B917-ED111E83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953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For Dutch dental clinics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66086-E205-4312-A8F2-839FC32C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495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6174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8343C"/>
                </a:solidFill>
              </a:defRPr>
            </a:pPr>
            <a:r>
              <a:rPr sz="3900" b="1">
                <a:solidFill>
                  <a:srgbClr val="18343C"/>
                </a:solidFill>
              </a:rPr>
              <a:t>Reduce no-shows. Recover lost appointments.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3E606-FAAF-4463-BA2C-FBA5701B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63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757C"/>
                </a:solidFill>
              </a:defRPr>
            </a:pPr>
            <a:r>
              <a:rPr sz="1650" b="0">
                <a:solidFill>
                  <a:srgbClr val="5D757C"/>
                </a:solidFill>
              </a:rPr>
              <a:t>Renvoo is a B2B clinic SaaS for Dutch dental clinics that helps reduce no-shows, handle late cancellations earlier, and recover lost appointment capacity without adding front-desk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C0878-CA50-4279-BACB-511D2402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C9129-D143-446B-89F6-51C28099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No-shows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89E8A-1201-404F-8E62-116052EC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95750"/>
            <a:ext cx="140589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0DE6E-FEB0-44C9-9BA9-BF866C44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71950"/>
            <a:ext cx="113919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Late cancellations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3330F-7C6F-4541-AA44-EFCA97B2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95750"/>
            <a:ext cx="133731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FE0BE-847F-4FB7-B2DA-E4FBA635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71950"/>
            <a:ext cx="10706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Capacity recovery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5255E-76B3-4D97-B967-3C05A0E9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9530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FF5B60-43B4-4DFD-B3E7-F14A7CB0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95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892D3-53F1-49D1-95E3-36FC4DE6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434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A clinic operations problem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8AB47-6B86-4EB3-9DC3-FB5C8417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4343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Renvoo is being framed around wasted appointment capacity, not generic AI. The point is earlier action, clearer visibility, and less manual recovery work for dental clinics.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7B2FEC-FBCB-4974-839B-C736FB5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04900"/>
            <a:ext cx="5200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59CC0A-79C1-42BE-94A7-F323CD9D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57300"/>
            <a:ext cx="48958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B44AC-5D5F-4FC1-A323-5729F2E4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257300"/>
            <a:ext cx="4895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F8701-2A7B-4868-BF61-4A982606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906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43C"/>
                </a:solidFill>
              </a:defRPr>
            </a:pPr>
            <a:r>
              <a:rPr sz="1125" b="1">
                <a:solidFill>
                  <a:srgbClr val="18343C"/>
                </a:solidFill>
              </a:rPr>
              <a:t>Calendar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2FDD0-40E4-4C24-B2A6-58032A11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DABD74-54E3-449B-A146-B6EDD6C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EA7C11-D3FC-4061-B3E9-2906256B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48BB71-84C1-46CE-BCE7-2DB28BC2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BDDBE-F61D-4F5B-AD66-78999D2E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0C66D7-2E4A-4482-AF72-5D7D0651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9240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6CBC4-C5A2-4AC1-A7A6-7DB06E3B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9E99F8-2205-45FB-B5EA-6905BBFA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C1A566-7447-47F6-8956-F1CD7A36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50E227-99F0-4179-8D13-BC7D47ED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653C13-E303-4007-A2FF-0DC98871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C51D6E-BD00-4B5D-AA2A-FB026657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CA952E-9E56-4B2E-9170-13E6AFBA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8C4CF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C2158A-86C3-4B9A-9AB2-FA00E2E6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C1ED37-47B6-43E0-BCCA-F9ABE78D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D6175"/>
          </a:solidFill>
          <a:ln xmlns:a="http://schemas.openxmlformats.org/drawingml/2006/main" w="9525">
            <a:solidFill>
              <a:srgbClr val="0D617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32E105-12F8-45BC-83FF-82492F09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5BFB67-774F-4CB8-B591-699BC09B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003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8C4CF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508150-9C95-4073-9699-4180E0D4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8C4CF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61A110-9363-42B1-948D-178DD396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003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64F1DF-2A78-4313-BADA-F9C3220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04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0021EF-6C93-4924-91C1-997FD5BE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0040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D6175"/>
          </a:solidFill>
          <a:ln xmlns:a="http://schemas.openxmlformats.org/drawingml/2006/main" w="9525">
            <a:solidFill>
              <a:srgbClr val="0D617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A12B04-8B29-457A-ABBC-3421527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742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514D"/>
          </a:solidFill>
          <a:ln xmlns:a="http://schemas.openxmlformats.org/drawingml/2006/main" w="9525">
            <a:solidFill>
              <a:srgbClr val="E451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CD5B0B-8126-4954-A87E-93ED1E0D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390650"/>
            <a:ext cx="114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DD63D0-B9D8-4011-A956-87E1D6AE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438275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4514D"/>
                </a:solidFill>
              </a:defRPr>
            </a:pPr>
            <a:r>
              <a:rPr sz="750" b="1">
                <a:solidFill>
                  <a:srgbClr val="E4514D"/>
                </a:solidFill>
              </a:rPr>
              <a:t>high-risk slots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F7E1A0-3A95-4DC6-9562-5D1F6550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1600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37EA72-F01B-470B-BDEE-2C423245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4C2095-C091-4D00-ABEE-C351E4EB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387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915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Booked does not mean realized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0DB024-C88E-4111-A077-7D5F3992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81600"/>
            <a:ext cx="118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09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scheduled slot only creates value if the patient actually shows up.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3D0187-1E17-4E72-A776-763CD091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67250"/>
            <a:ext cx="1600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AC7DFF-7098-4C55-A138-28CB47D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67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926F83-4803-48F5-B474-B79D4CF7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8387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87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Late notice still hurts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C2E55B-21C6-474E-8835-1EBFA77D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81600"/>
            <a:ext cx="118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Even a cancellation can be too late to save the chair time.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B46CB0-3DF0-4FFD-B3F4-C4F6DB3D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67250"/>
            <a:ext cx="16002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181AE6-A4D1-4034-825C-2DEDF2E2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67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7F44DBB-1A8E-4092-94DF-5A270DC0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3870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058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Staff absorb the gap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37BF56-35BF-48ED-8A74-E37233D8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81600"/>
            <a:ext cx="1181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682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Uncertainty creates more confirmation, rescheduling, and recovery work.</a:t>
            </a:r>
          </a:p>
        </p:txBody>
      </p:sp>
    </p:spTree>
    <p:extLst>
      <p:ext uri="{BB962C8B-B14F-4D97-AF65-F5344CB8AC3E}">
        <p14:creationId xmlns:p14="http://schemas.microsoft.com/office/powerpoint/2010/main" val="425556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643E5-CB64-4096-903C-AAE7B8F5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CD0EA-C3AF-4D01-BA10-15F2EC08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8222B-83CC-4D42-83FA-F1A95CD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C2219-8267-4D00-AA98-82AAF3DC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2407C-F1AE-43AF-A857-784846FC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D4980-2EE1-44B0-86C0-38426B12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6DE6F-7D2E-4779-8901-79E6A9F1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4F0E2-755B-454B-86E0-407D4840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02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B23B3-1E31-4C7F-9EB3-C3DADA4F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8D1C3-2152-40BF-98CA-A50A5FFA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No-shows turn booked time into lost revenue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89AF7-4739-4381-B6A0-30B4C7A0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When chair time goes unused, the lost value is immediate and hard to recover.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BDD80-E193-415D-81C7-EAEDA29D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591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CCD0F-FAE1-49CD-9313-14329A31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26E88-A786-422C-8DD4-FF45D6EB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398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Booked time expires quickly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E8C9E-A0E6-4D55-8B60-37114349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398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If the chair is empty, the value of that appointment often disappears with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0C796-B485-4C89-B435-A3BD10ED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591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08A464-0904-4BF7-B478-4BA08BA7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84F2F-43C6-4CB5-BE11-DD6FF959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398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Lost value compounds across the week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815FC-2DCD-44D3-8FCD-6DD4768F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398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Repeated misses create a visible drag on utilization, daily flow, and monthly revenue.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B356F-E743-44F6-8935-89707D64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4591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7FA34-DD41-4270-83AF-7F76837B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B40DB-58B4-4769-8350-D7EA2F32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3981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Recovery is not automatic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174D9-6219-4581-9A81-0805C02C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3981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missed appointment only stops hurting if the slot can be recovered in time.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92B2F-B9C2-4E3F-B6C8-D8DC121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81250"/>
            <a:ext cx="600075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9307A"/>
          </a:solidFill>
          <a:ln xmlns:a="http://schemas.openxmlformats.org/drawingml/2006/main" w="9525">
            <a:solidFill>
              <a:srgbClr val="1930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5FF02-2D9E-4DCB-8DA4-D2396BE4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90800"/>
            <a:ext cx="5543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≈ EUR 8k/month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6AB727-06DB-4141-BDE4-F3EA4A22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5543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1FF"/>
                </a:solidFill>
              </a:defRPr>
            </a:pPr>
            <a:r>
              <a:rPr sz="1125" b="0">
                <a:solidFill>
                  <a:srgbClr val="D9E1FF"/>
                </a:solidFill>
              </a:rPr>
              <a:t>2 missed appointments/day. Potential lost revenue when those appointments are not recovered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D0B83A-9EE9-4117-88CC-45287AFC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86300"/>
            <a:ext cx="2876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E8F7F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4F92E-874B-4285-8B45-B90EC4F8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95850"/>
            <a:ext cx="2419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708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6175"/>
                </a:solidFill>
              </a:defRPr>
            </a:pPr>
            <a:r>
              <a:rPr sz="2550" b="1">
                <a:solidFill>
                  <a:srgbClr val="0D6175"/>
                </a:solidFill>
              </a:rPr>
              <a:t>2 missed appointments/day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3E6642-3FF2-4B68-8CC0-40B1ADD3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264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Illustrative clinic scenario used in existing pitch material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48DF41-4531-49C5-9D20-3ECED302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86300"/>
            <a:ext cx="28765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5B24A2-80A2-4331-AF3F-20C37B78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95850"/>
            <a:ext cx="2419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708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307A"/>
                </a:solidFill>
              </a:defRPr>
            </a:pPr>
            <a:r>
              <a:rPr sz="2550" b="1">
                <a:solidFill>
                  <a:srgbClr val="19307A"/>
                </a:solidFill>
              </a:rPr>
              <a:t>Same-day recovery is hard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4E9D4B-AF12-49A4-9A17-07B366E0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62600"/>
            <a:ext cx="2419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264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booked slot only creates value if the patient actually shows 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E591C5-40DD-4920-B646-1B2DB4DA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57C"/>
                </a:solidFill>
              </a:defRPr>
            </a:pPr>
            <a:r>
              <a:rPr sz="750" b="0">
                <a:solidFill>
                  <a:srgbClr val="5D757C"/>
                </a:solidFill>
              </a:rPr>
              <a:t>Illustrative scenario math from existing Renvoo pitch material, not live pilot proof.</a:t>
            </a:r>
          </a:p>
        </p:txBody>
      </p:sp>
    </p:spTree>
    <p:extLst>
      <p:ext uri="{BB962C8B-B14F-4D97-AF65-F5344CB8AC3E}">
        <p14:creationId xmlns:p14="http://schemas.microsoft.com/office/powerpoint/2010/main" val="400262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352A1-7439-4730-9853-2960998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D908E-EC2C-4CEF-B8F1-B2508B85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CE287-31CC-49F9-A598-AFAC140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BEF47-7E42-4BDA-BB4B-BE55867D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8681A-8560-49F8-8E8D-DEC792D6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36D18-1C2D-4336-8010-6D246B37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119E9-F347-4427-93AB-7E12A1BE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FDCDB-D453-4FDA-9B50-B7651B39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03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CFCD9-CC44-4FE5-91A3-A0875342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E7297-44B6-41AC-A5D9-75F9DEFB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Late cancellations still leave chair time empty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23E9C-7C78-4353-89CC-59C82D80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Even when patients tell you, late notice often arrives too late to save the slot.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63CC41-E785-4B62-8792-FF280FBD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448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50552-1121-4040-A6F9-9543EF86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BDFD3-F978-417D-A575-6084C26E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Too little notice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144A0-AE6C-468B-8DBA-DC84B1B2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3028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patient can cancel politely and the clinic can still lose the value of the appointment.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5E0B98-98B9-42D0-8121-B960EDF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34480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B8CBA-3458-4225-A0C1-6BE9E6DC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19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4FA1E-68CE-4187-9904-AA9643E3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908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Gaps break the day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CBC51-7FF5-4F87-9329-52B7EBA0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30289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30 to 60 minute opening can be too small or too late to refill manually.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740FFE-C9E4-4493-906F-E0CC2F6B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34671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C6317-81B4-4DC6-A924-0215831A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78374-F636-413C-8A8D-64D37721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Recovery becomes a scramble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80684-83B7-4427-A8E9-C2E2B1D5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3048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Staff end up calling waiting lists or shifting plans at the last minute.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475E87-F392-4498-A4B2-7CCE94C7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7088C0-E316-4A82-80F1-B0C3A9A3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9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E1D20-450B-4BC0-933B-DEF8367B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1036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A late cancellation can still be operationally expensive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874476-F98A-4EA2-A64E-504AF7AD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patient may have communicated, but the clinic still carries the cost if the slot cannot be recovered in time.</a:t>
            </a:r>
          </a:p>
        </p:txBody>
      </p:sp>
    </p:spTree>
    <p:extLst>
      <p:ext uri="{BB962C8B-B14F-4D97-AF65-F5344CB8AC3E}">
        <p14:creationId xmlns:p14="http://schemas.microsoft.com/office/powerpoint/2010/main" val="2859108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336E9-B583-4664-9449-B4561A71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07396-A959-4D1F-8D74-434FC518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8987C-8B00-4A54-82BA-BCDD8A12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0DEB4-845E-405F-AA09-5B5F5A41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C0FFE-F836-40D7-955D-AC97F5D3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39816-9009-4B19-8846-443A3E41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0E769-42CE-48A2-95A9-161F46EA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2B8A0-E103-4C3C-9C25-0D3993C6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04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05395-D985-4800-A050-4E7EAF37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5F144-E208-4019-B819-93786B1A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Reminders exist. Prevention does not.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1221D-2182-4FEB-A7F0-AABB1893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Sending the same reminder to everyone still leaves clinics reacting too late.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8A219-C937-4888-AB76-83CAF28C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9720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B0212-08E3-4705-BC1E-3A05D56C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What clinics already have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DD0A4-1349-41A7-A4FE-231A2C84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5430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C1F73-DA0A-46B0-9374-D8934B6B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276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Booking confirmation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E6471B-7F2A-4C12-BFFE-8819D8D3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6A577-00D2-45A3-A52C-22F94664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Reminder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1E616-076E-4B91-BC15-BAF09663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047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9D651-A3A5-47E0-8FD4-CA8B5C21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862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Reminder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F635D-6E44-4EB7-8FCF-49296A43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45148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86D92-841F-4264-9B41-1AB4C7F3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What is still missing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2F1B61-3340-4CA6-A48E-6469B70A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400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57C"/>
                </a:solidFill>
              </a:defRPr>
            </a:pPr>
            <a:r>
              <a:rPr sz="1200" b="0">
                <a:solidFill>
                  <a:srgbClr val="5D757C"/>
                </a:solidFill>
              </a:rPr>
              <a:t>A way to tell which appointments need stronger action before the slot is already in danger.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428D3-9A92-4C5B-9987-FA14A85F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5600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ED0EF-834F-450A-966E-8E5B9D7C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62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1A6A2-0B5E-4391-A64A-5F3AB75D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518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Same reminder, every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2320E4-CBE3-4070-8739-A36E695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18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Generic reminder flows treat low-risk and high-risk appointments the same.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A1932-192E-452E-8CD9-799593CA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5600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C841D-9E6D-4E79-BDF6-28E63C4F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600FE6-2456-42DE-863E-07B092A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518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No response is still risk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8A589-F306-46A8-A18B-E34DEA81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18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A sent message is not the same as a confirmed patient.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F4760A-EED5-485D-83D6-1B591BE8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00600"/>
            <a:ext cx="5600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E713FB-1C1B-4FA8-B8B7-1D9C3B84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006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7E5D40-2F18-46D3-9F9E-95E36AD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518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Action happens too late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95634E-9EA8-48AA-B511-CB49C0F6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14950"/>
            <a:ext cx="518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By the time staff intervene manually, the slot is often already at risk.</a:t>
            </a:r>
          </a:p>
        </p:txBody>
      </p:sp>
    </p:spTree>
    <p:extLst>
      <p:ext uri="{BB962C8B-B14F-4D97-AF65-F5344CB8AC3E}">
        <p14:creationId xmlns:p14="http://schemas.microsoft.com/office/powerpoint/2010/main" val="1055168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6373F-F9E5-4E3B-B312-78DA0FB4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187DB-79AC-4B42-9D33-E251C697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4D986-0CCD-4AC4-82D6-016057E0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23B45-679B-4636-BB5D-F45449D0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B8A03-02B3-4692-B478-38FA8876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86AF4-E655-483B-A9C9-A4C7B511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5873E-DFCD-41C3-A703-336BE882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C8755-0ACC-4B01-8282-B7AC12C1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05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3164D-65D0-48D6-AF08-EC12B6A5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570CE-F559-4BB5-B8D0-E19A8007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Admin work grows around uncertainty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6553F1-99B7-4CC2-B9E1-44C8EF11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Confirmations, rescheduling, and recovery work all increase when attendance is unclear.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F5D43-1721-44E8-8412-2C6447AC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0670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9307A"/>
          </a:solidFill>
          <a:ln xmlns:a="http://schemas.openxmlformats.org/drawingml/2006/main" w="9525">
            <a:solidFill>
              <a:srgbClr val="1930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A0C89-0985-468D-849E-562022B5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609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49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More manual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BFC47-1214-48D5-97DF-09725154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609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1FF"/>
                </a:solidFill>
              </a:defRPr>
            </a:pPr>
            <a:r>
              <a:rPr sz="1125" b="0">
                <a:solidFill>
                  <a:srgbClr val="D9E1FF"/>
                </a:solidFill>
              </a:rPr>
              <a:t>As soon as attendance becomes uncertain, someone has to manage the exception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BD24F-CA9E-48D6-B102-9CBA9AA9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0670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E8F7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D176B-83A9-426D-8DF8-BBF4F312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609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6175"/>
                </a:solidFill>
              </a:defRPr>
            </a:pPr>
            <a:r>
              <a:rPr sz="2550" b="1">
                <a:solidFill>
                  <a:srgbClr val="0D6175"/>
                </a:solidFill>
              </a:rPr>
              <a:t>Less usable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2AA98-BC28-435A-B1D1-F730378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2609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1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team spends more of the day coordinating around uncertainty instead of running the clinic smoothly.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CA4BED-4454-410B-96AA-1C3D6AD7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2362200" cy="3619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FDA72-54CA-43E6-B5C0-DFD688F9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46316-1C20-4C54-AE8C-D1E2E76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9080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Confirmations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22E69-49CA-4D44-9B67-11D3F997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33700"/>
            <a:ext cx="1943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Someone still has to see who replied, who did not, and what to do next.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25A19-B240-44D7-B411-3EFC15C0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2362200" cy="3619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B4903-2942-4E6A-8DDD-73CE7197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7C11E-0574-4D05-9A1C-602F2848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Rescheduling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2F64FD-88AC-4943-9E8A-0B7E2356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19431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Every late change creates new messages, new slots, and new front-desk work.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9CC5A-5FC4-4719-A1AB-40AF4A11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2190750" cy="3619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384336-915E-448D-B892-C75508F1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E4AAD-3D4C-411C-946B-F7879814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9080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Recovery work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A16F7-D607-4688-A3BC-899B725C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7716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Waiting lists and short-notice backfill help, but they are exhausting when managed manually.</a:t>
            </a:r>
          </a:p>
        </p:txBody>
      </p:sp>
    </p:spTree>
    <p:extLst>
      <p:ext uri="{BB962C8B-B14F-4D97-AF65-F5344CB8AC3E}">
        <p14:creationId xmlns:p14="http://schemas.microsoft.com/office/powerpoint/2010/main" val="401256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0F0E3-AAC5-4D3F-A308-96CE9CD3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0C7A5-0F3B-4D99-8AE7-5D944DC6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22684-F80A-47A9-8900-8C464311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76AE3-CEE6-4B33-BA06-9941ADB6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780E4-791F-4530-8876-271896EC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2FD6C-4345-49FA-A21D-25951C70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70096-BBB7-4804-BBAE-E62BE584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56539-BB25-4FBE-A32F-FF58A272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06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98884-513A-4F82-9831-B7162159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5F0D9-FF66-4241-8B7D-1044A463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90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Dental clinics feel this pain more sharply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D71DA-5432-41B2-997E-4123285A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High-value chair time and dense daily schedules make empty slots expensive fast.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243D9-CF59-4DAA-A4EE-E69EF1F1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0005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9032D-AB72-4958-809C-1E0D1693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95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5491E-8CEB-49E5-8923-1D986F15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3390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Why dental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6B268-6FB1-42EA-B770-8F6737AC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33909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Dental is the clearest current wedge because the pain is practical, the buyers are operational, and the revenue cost of unused chair time is easy to explain.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8F52A-09F3-4767-A7A3-B1F19416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9515E-BC35-4F39-AFAA-5442EC2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8E7D8-3C57-4ADF-BE83-20D855D4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3365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High-value chair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3C502-8BB9-45A4-B43B-37574005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Dental appointments often have direct revenue impact when they go unused.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33834-75EB-4F20-A674-5E3F34FA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909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4968A-E550-43F3-8DB8-1AA80412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909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2859E9-3FAA-4EFB-9A5A-B5C9B325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6240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Dense schedules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701D9-1F17-4F2C-9EFB-90831E34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05300"/>
            <a:ext cx="2628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Clinics run tightly packed days where one gap disrupts utilization quickly.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DE155-0B5D-4F4C-94DE-CF846C1E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3048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4051C-1A42-45C9-86EC-98CC3242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6AFBE-61E2-4A5C-AB82-45A19817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91150"/>
            <a:ext cx="2628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Repeat appointments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EC7B8-3B00-4B24-8565-D3459C22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34050"/>
            <a:ext cx="2628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4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Ongoing treatment creates recurring opportunities for both risk and recovery.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A9E72-175A-4EB1-8C6A-1B8C8095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31813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EEF2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C57BE8-1032-4AE9-A6C2-4FAD947A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04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307A"/>
                </a:solidFill>
              </a:defRPr>
            </a:pPr>
            <a:r>
              <a:rPr sz="2550" b="1">
                <a:solidFill>
                  <a:srgbClr val="19307A"/>
                </a:solidFill>
              </a:rPr>
              <a:t>Dental-first wedge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C797D-0D59-4B88-BE7B-AD5841E8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current market entry is Dutch private dental clinics, not broad hospital software.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ABA17-FE8C-4579-A06D-79C68CC0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31813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3BAD01-0C38-4DFB-BD51-BD8B6F66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7200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543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D6175"/>
                </a:solidFill>
              </a:defRPr>
            </a:pPr>
            <a:r>
              <a:rPr sz="2550" b="1">
                <a:solidFill>
                  <a:srgbClr val="0D6175"/>
                </a:solidFill>
              </a:rPr>
              <a:t>Operational buyer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65B39E-0067-45A0-A337-FDA282C0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387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strongest buyer is the owner or practice manager who feels empty-slot cost and admin burden directly.</a:t>
            </a:r>
          </a:p>
        </p:txBody>
      </p:sp>
    </p:spTree>
    <p:extLst>
      <p:ext uri="{BB962C8B-B14F-4D97-AF65-F5344CB8AC3E}">
        <p14:creationId xmlns:p14="http://schemas.microsoft.com/office/powerpoint/2010/main" val="319210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29335-63FD-461C-B2C1-1230BA9F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38D4B-2E69-4EF3-92C2-4B0DC7D0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23810-70D1-47E0-8929-B067E511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BBC1F1-EBD6-4B9E-B18D-14046AAC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04871-6404-4733-8E33-43A0D2D1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DA870-B142-46B8-A078-7594ECD1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D2096-3E63-4459-AC2C-12B6255C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058DBF-0EB9-4D49-8D4E-C529C0A0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07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6DFDB-CB62-4CF5-8090-D0B9341F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AE10D-47B8-41D1-B11C-FA8B71B9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What Renvoo changes operationally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EEAEEE-3799-4F62-9309-72C9FD27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Renvoo is designed as a clinic operations layer, not just a reminder tool.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76331-A81E-41B3-98A6-20172D40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552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302FF-2B3F-4459-B99D-3FB92F51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43420-3777-41CD-B9B0-6BBCCC3A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0FB80-3BF2-4CAC-8787-D9CDCBD8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67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Identify higher-risk appointments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E6458-6B97-460A-B80A-C1D6D00C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813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6E8A8-E0CF-4B82-A35E-C83472C1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552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DE3840-E013-4B5A-8D1D-902D0580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29D3C-EA91-4F9D-8F1B-8FAD79AE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DA8310-AB9C-49AD-B152-353948F2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67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Trigger stronger confirmation or rescheduling earlier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98F4B-4099-48EF-B9BB-ACB4012D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813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1C6089-7EC2-44B6-B191-62A439B2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552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4F79E-7A05-4C70-9EF0-C986C9D6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79BD2-6BDC-4D79-9E70-E9932906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43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8880C-3AA1-4C19-B9CC-DFA50956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Track patient response centrally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DB5C8-FDFC-42EF-910A-062C6E3C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81325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67816-BE5C-4E6C-9DF2-4A15467B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95550"/>
            <a:ext cx="2552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0536C8-C048-4193-AED3-38A720D7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67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9525">
            <a:solidFill>
              <a:srgbClr val="18C4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A8BB82-11F3-42E6-80B7-5A8A75C6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432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D6175"/>
                </a:solidFill>
              </a:defRPr>
            </a:pPr>
            <a:r>
              <a:rPr sz="975" b="1">
                <a:solidFill>
                  <a:srgbClr val="0D6175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744BFB-2E3B-4E56-A035-5D917AE8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67000"/>
            <a:ext cx="1752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343C"/>
                </a:solidFill>
              </a:defRPr>
            </a:pPr>
            <a:r>
              <a:rPr sz="1200" b="0">
                <a:solidFill>
                  <a:srgbClr val="18343C"/>
                </a:solidFill>
              </a:rPr>
              <a:t>Recover otherwise lost capacity when possible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835F08-E270-4A27-8E42-5129D539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448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461801-8CE2-45BB-BFB8-23DE41D6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54DF70-8C69-4DAF-B445-ABB7B68B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Earlier 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B69503-4F37-4594-83C7-1D8B388A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3028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goal is to intervene while the clinic still has time to reshape the appointment outcome.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BB5896-7451-46A7-8F23-C1D3AB62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34480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FCDF23-A54B-4323-B9E7-5E966B09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71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E24A72-947B-4D74-9A74-F4B2DA46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434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Clearer visibility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43527C-4916-4485-B452-AF93DA74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86300"/>
            <a:ext cx="3028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Staff should be able to see who is confirmed, who is uncertain, and what has already happened.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FED023-B277-47C8-BF31-33FBA75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4671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E75A4C-B7BA-4514-8FD5-742FE694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10CC0F-B158-443F-840F-A1749736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434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Less wasted capacity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6FA259-20B7-4089-ACAE-DF02B7D4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86300"/>
            <a:ext cx="304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Prevented no-shows and recovered slots both improve the economics of the clinic day.</a:t>
            </a:r>
          </a:p>
        </p:txBody>
      </p:sp>
    </p:spTree>
    <p:extLst>
      <p:ext uri="{BB962C8B-B14F-4D97-AF65-F5344CB8AC3E}">
        <p14:creationId xmlns:p14="http://schemas.microsoft.com/office/powerpoint/2010/main" val="1549095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B4340-2025-4BE2-9B48-32CFF5DE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2EC77-20BB-41FC-AA43-C0F0D06A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371F6-F69F-4020-A509-203373A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E76A6-937B-401D-A674-4734FD97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DB5B3-265E-4BF7-BF00-9314488A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8D56F-350F-44C1-B8D2-257FE98D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4C6D6-C80A-4C04-BE97-924714BD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SOLUTION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86260-DA3C-42FB-B11D-22E5D02F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08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A7CDB0-029E-4393-A76F-A5C4814C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46731F-3344-4A5F-9D4D-CB27F13F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Low-friction for clinics by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313E4-B50F-4E01-9D45-14CE495F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The workflow is designed around operational data, clinic control, and lightweight onboarding without patient accounts in v1.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8AE81D-17D7-4716-BFDB-7FA26EBA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48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B2D70-BEBA-43A7-97B0-7817EB0B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9071D-34AD-42C4-AEED-856982C2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Administrative data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17979-6B22-4F5A-B09C-1C1AB70A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Renvoo is designed around scheduling and communication data, not diagnoses or clinical notes.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F8533-A80A-4A68-83AE-90C8DB33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4480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79C4A-E4A9-4B05-9C3F-51AA5EF9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E296C-CF52-4631-8357-6006CCE7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Lightweight onboarding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B13F55-79D0-4565-9B9B-063B9A4E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3028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CSV-first and read-only onboarding paths reduce integration friction while pilots are being validated.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1717A-F637-475E-B3EE-6F19F63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3448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5052C-93DD-477E-866C-C32E044A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FBCC8-7D9D-4575-BBDD-EEA46CF2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No patient accounts in v1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DDAD0-B31F-44A2-9BB1-18EFB333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3028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435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Patient confirmations and rescheduling can happen through secure links without adding a new patient portal.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7597AF-8C19-4B3E-BAF3-447EF5CA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71056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978AC-3ADC-4378-B890-101D4950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90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How the operating layer fits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BFA080-1981-43D5-8385-5278446D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6230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EE5830-87E3-458D-A929-78DA31D8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147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93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43C"/>
                </a:solidFill>
              </a:defRPr>
            </a:pPr>
            <a:r>
              <a:rPr sz="1275" b="1">
                <a:solidFill>
                  <a:srgbClr val="18343C"/>
                </a:solidFill>
              </a:rPr>
              <a:t>Scheduling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D18091-CBBA-4DA6-A7BF-9A0100ED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19500"/>
            <a:ext cx="1371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57C"/>
                </a:solidFill>
              </a:defRPr>
            </a:pPr>
            <a:r>
              <a:rPr sz="1050" b="0">
                <a:solidFill>
                  <a:srgbClr val="5D757C"/>
                </a:solidFill>
              </a:rPr>
              <a:t>Appointments, timing, status, and attendance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55E638-58F5-45DD-95D5-D479E4AC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1809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34FFD7-1C1E-4814-A161-2FA80D4F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289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43C"/>
                </a:solidFill>
              </a:defRPr>
            </a:pPr>
            <a:r>
              <a:rPr sz="1275" b="1">
                <a:solidFill>
                  <a:srgbClr val="18343C"/>
                </a:solidFill>
              </a:rPr>
              <a:t>Renvoo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DFD9E2-25AD-4D8B-BFDF-A80EC381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1466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57C"/>
                </a:solidFill>
              </a:defRPr>
            </a:pPr>
            <a:r>
              <a:rPr sz="1050" b="0">
                <a:solidFill>
                  <a:srgbClr val="5D757C"/>
                </a:solidFill>
              </a:rPr>
              <a:t>Risk awareness, confirmation logic, response tracking, and capacity recovery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26B08F-4549-46E4-A195-9D492A9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62300"/>
            <a:ext cx="1676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779A3-9A56-4222-9818-F9B028D8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147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45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343C"/>
                </a:solidFill>
              </a:defRPr>
            </a:pPr>
            <a:r>
              <a:rPr sz="1275" b="1">
                <a:solidFill>
                  <a:srgbClr val="18343C"/>
                </a:solidFill>
              </a:rPr>
              <a:t>Patient communication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341657-87C5-4A34-AA6E-368B1EA5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0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757C"/>
                </a:solidFill>
              </a:defRPr>
            </a:pPr>
            <a:r>
              <a:rPr sz="1050" b="0">
                <a:solidFill>
                  <a:srgbClr val="5D757C"/>
                </a:solidFill>
              </a:rPr>
              <a:t>Confirmation, cancellation, and rescheduling flows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514025-2C64-46A4-90C1-D3805264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338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62F810-A653-4DFC-A03C-67342EA3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57600"/>
            <a:ext cx="114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4EA403-29FF-4E5B-9C01-194BE640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EF0298-FD6C-4A42-AE28-924AC6D9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57600"/>
            <a:ext cx="114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F51DF9-AEA1-4193-9A1F-AC3500B8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6534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1F0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1302C6-AD86-49FD-9460-C2235CF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33950"/>
            <a:ext cx="592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14D"/>
                </a:solidFill>
              </a:defRPr>
            </a:pPr>
            <a:r>
              <a:rPr sz="1200" b="1">
                <a:solidFill>
                  <a:srgbClr val="E4514D"/>
                </a:solidFill>
              </a:rPr>
              <a:t>No diagnoses, no clinical notes, no treatment decisions.</a:t>
            </a:r>
          </a:p>
        </p:txBody>
      </p:sp>
    </p:spTree>
    <p:extLst>
      <p:ext uri="{BB962C8B-B14F-4D97-AF65-F5344CB8AC3E}">
        <p14:creationId xmlns:p14="http://schemas.microsoft.com/office/powerpoint/2010/main" val="615133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C4903-ED4D-4598-B2F0-07B49191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6B6FD-86FC-403E-9123-52420D77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F055C-982B-4E4B-A6D9-9CB42C94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46188-CE9F-4778-A1D2-36C2E3F4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172C7-D261-4B4D-9EB7-26401FAB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DA3A7-0BA6-477D-B6F1-7814B6E2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161A7-FBEE-4D6D-A079-2834A0CE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0D6FD-22B1-4620-A636-7E2A7DF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09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DFA2F-EE72-4778-B7AF-79CB2530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AA424-42A8-4FF9-8E01-D708A6D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Preliminary pilot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E05E7-6AEB-464D-AA46-7F658D4D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57C"/>
                </a:solidFill>
              </a:defRPr>
            </a:pPr>
            <a:r>
              <a:rPr sz="1350" b="0">
                <a:solidFill>
                  <a:srgbClr val="5D757C"/>
                </a:solidFill>
              </a:rPr>
              <a:t>Enough to frame budget fit, not a final commercial commitment.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3274D-342E-47C2-9D65-D0BB3D86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9728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9307A"/>
          </a:solidFill>
          <a:ln xmlns:a="http://schemas.openxmlformats.org/drawingml/2006/main" w="9525">
            <a:solidFill>
              <a:srgbClr val="1930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869D0-90D1-4602-8DBE-691B1E65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E1FF"/>
                </a:solidFill>
              </a:defRPr>
            </a:pPr>
            <a:r>
              <a:rPr sz="975" b="1">
                <a:solidFill>
                  <a:srgbClr val="D9E1FF"/>
                </a:solidFill>
              </a:rPr>
              <a:t>Preliminary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577BC-67ED-42F0-9549-BD03B38E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0363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Preliminary pilot pricing starts at EUR 2.49 per appointment, plus a fixed fee depending on the clinic. Final pricing is still being shaped with pilot partners.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23386-BA72-4BCE-9B20-E6491C59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3448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D2EC2-21A2-4C90-AB69-8BA3F1E4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CE54F-31D9-4941-8F65-13D961D4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Per appointment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2A345-EFB9-48AA-B698-38A8853C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28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usage-based part frames value around the appointment volume the clinic actually runs.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DE2FD-9D24-418A-AD50-ED17872C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34480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DDD05-2D5F-4E8D-B1B7-C8B15221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577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55142-6348-48EB-978F-8C03829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Fixed clinic fee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3CACC-D12B-412E-B440-E2289A1E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72100"/>
            <a:ext cx="3028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6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The clinic fee depends on the clinic because rollout complexity and support needs can differ.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D287B-26CC-4746-ACCE-1EB7D5F5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34671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6EEF9-7620-43B0-A407-04B719E4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D272F-C095-4C87-A34D-0FCD9B68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292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Still being shaped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3F34EA-C9E4-4179-BC69-AC580A2E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72100"/>
            <a:ext cx="304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Pricing is shown now to signal seriousness, but it is not being presented as final.</a:t>
            </a:r>
          </a:p>
        </p:txBody>
      </p:sp>
    </p:spTree>
    <p:extLst>
      <p:ext uri="{BB962C8B-B14F-4D97-AF65-F5344CB8AC3E}">
        <p14:creationId xmlns:p14="http://schemas.microsoft.com/office/powerpoint/2010/main" val="12235223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FBF68-94E1-445A-9556-759B9580E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D70C2-1B10-46F1-9157-67E6AD2C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-104775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B070D-6C34-45DE-81A2-530108AB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476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B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56825-40E5-46B6-9218-C7332B19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181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9525">
            <a:solidFill>
              <a:srgbClr val="D7EC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E4845-1D3B-4D04-82BD-A87909DB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30FD5-23C3-4DB8-82E4-3BF12349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1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87DDA-A40A-46E2-B7D9-0FC5ABEC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6175"/>
                </a:solidFill>
              </a:defRPr>
            </a:pPr>
            <a:r>
              <a:rPr sz="1200" b="1">
                <a:solidFill>
                  <a:srgbClr val="0D6175"/>
                </a:solidFill>
              </a:rPr>
              <a:t>renvoo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EB14D-8BD4-4AF6-B103-9127D0F6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AED03-1DE4-4383-AD1F-662FBC66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33375"/>
            <a:ext cx="76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D6175"/>
                </a:solidFill>
              </a:defRPr>
            </a:pPr>
            <a:r>
              <a:rPr sz="900" b="1">
                <a:solidFill>
                  <a:srgbClr val="0D6175"/>
                </a:solidFill>
              </a:rPr>
              <a:t>10 /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C6DC5-73D7-423D-98EB-693860B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C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377B7-5114-48E4-8C7F-B5453269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685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343C"/>
                </a:solidFill>
              </a:defRPr>
            </a:pPr>
            <a:r>
              <a:rPr sz="2700" b="1">
                <a:solidFill>
                  <a:srgbClr val="18343C"/>
                </a:solidFill>
              </a:rPr>
              <a:t>Built to validate with clinics, not just describe the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C6C1D-ABC1-4B57-A004-1F636A6F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5148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9DF53-391A-460B-890D-814D4E89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7F8"/>
          </a:solidFill>
          <a:ln xmlns:a="http://schemas.openxmlformats.org/drawingml/2006/main" w="13335">
            <a:solidFill>
              <a:srgbClr val="18C4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454F72-6EB6-4872-8709-E11F14A8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781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6175"/>
                </a:solidFill>
              </a:defRPr>
            </a:pPr>
            <a:r>
              <a:rPr sz="2100" b="1">
                <a:solidFill>
                  <a:srgbClr val="0D6175"/>
                </a:solidFill>
              </a:rPr>
              <a:t>MI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E8DF0-7F3E-4F1E-806C-65B6A273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19350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343C"/>
                </a:solidFill>
              </a:defRPr>
            </a:pPr>
            <a:r>
              <a:rPr sz="1500" b="1">
                <a:solidFill>
                  <a:srgbClr val="18343C"/>
                </a:solidFill>
              </a:rPr>
              <a:t>Founder credibility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B04185-0D54-4DFD-92CF-69C53CA6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57500"/>
            <a:ext cx="30289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Renvoo is being built by Mohamed Ibrahim, former Electrical Subteam Lead for Team Polar at TU/e and part of the NVIDIA 6G Developer Program.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A4906-98E3-4D4C-A10C-EB04A028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52650"/>
            <a:ext cx="61722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4FBFC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ECCA7-A228-4283-8816-BEBDB608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952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F5ACB5-7870-4503-A696-8D9C7CCF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43150"/>
            <a:ext cx="556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Pilot 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C4172-D6B7-4F1C-8AB1-C7042A6B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55626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We are looking for a short validation meeting with a dental clinic owner or practice manager to review your current no-show and rescheduling workflow.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81255-91D9-48C6-A73C-ECD73687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448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91224-A94E-4708-B5D3-373C68D4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CC9C0-EBFA-44C0-9226-3E8B628C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Current reminder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8FD21C-D6D2-4762-8BEA-9E16AF43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3028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How do confirmations work today, and where does uncertainty still remain?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EEDFE-DFB0-4DD7-BF1E-131A7A08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3448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0E70E-078D-496E-A031-76860EDC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96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1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843E60-C1D7-46A7-9EF9-28C27149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91100"/>
            <a:ext cx="3028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Late-cancellation handling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0255C1-F9FD-478B-A5BE-FBD7B413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34000"/>
            <a:ext cx="3028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What happens when a patient cannot attend and the clinic needs to protect utilization?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C9C2C0-774D-489D-8439-4745C823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9650"/>
            <a:ext cx="3467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EC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DEB518-0959-4894-A186-2CC484D3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196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4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DD076-F569-4295-8740-A80265ED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911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43C"/>
                </a:solidFill>
              </a:defRPr>
            </a:pPr>
            <a:r>
              <a:rPr sz="1350" b="1">
                <a:solidFill>
                  <a:srgbClr val="18343C"/>
                </a:solidFill>
              </a:rPr>
              <a:t>Recovery opportunity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813D9B-AC5E-413F-9BD9-2077093C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340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57C"/>
                </a:solidFill>
              </a:defRPr>
            </a:pPr>
            <a:r>
              <a:rPr sz="1125" b="0">
                <a:solidFill>
                  <a:srgbClr val="5D757C"/>
                </a:solidFill>
              </a:rPr>
              <a:t>Where could earlier action or better visibility recover capacity that is lost today?</a:t>
            </a:r>
          </a:p>
        </p:txBody>
      </p:sp>
    </p:spTree>
    <p:extLst>
      <p:ext uri="{BB962C8B-B14F-4D97-AF65-F5344CB8AC3E}">
        <p14:creationId xmlns:p14="http://schemas.microsoft.com/office/powerpoint/2010/main" val="221786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2026-04-18T14:26:15.3160000Z</dcterms:created>
  <dcterms:modified xsi:type="dcterms:W3CDTF">2026-04-18T14:26:15.3160000Z</dcterms:modified>
</coreProperties>
</file>